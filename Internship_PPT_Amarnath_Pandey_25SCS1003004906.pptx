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marnath Pandey" userId="2352f38dfab10d2a" providerId="LiveId" clId="{C574E5E9-15F1-4BE8-BFE7-EAA873B8FC24}"/>
    <pc:docChg chg="undo custSel modSld">
      <pc:chgData name="Amarnath Pandey" userId="2352f38dfab10d2a" providerId="LiveId" clId="{C574E5E9-15F1-4BE8-BFE7-EAA873B8FC24}" dt="2026-09-01T18:03:46.380" v="17" actId="21"/>
      <pc:docMkLst>
        <pc:docMk/>
      </pc:docMkLst>
      <pc:sldChg chg="delSp mod">
        <pc:chgData name="Amarnath Pandey" userId="2352f38dfab10d2a" providerId="LiveId" clId="{C574E5E9-15F1-4BE8-BFE7-EAA873B8FC24}" dt="2026-09-01T18:02:37.597" v="2" actId="21"/>
        <pc:sldMkLst>
          <pc:docMk/>
          <pc:sldMk cId="0" sldId="256"/>
        </pc:sldMkLst>
        <pc:spChg chg="del">
          <ac:chgData name="Amarnath Pandey" userId="2352f38dfab10d2a" providerId="LiveId" clId="{C574E5E9-15F1-4BE8-BFE7-EAA873B8FC24}" dt="2026-09-01T18:02:37.597" v="2" actId="21"/>
          <ac:spMkLst>
            <pc:docMk/>
            <pc:sldMk cId="0" sldId="256"/>
            <ac:spMk id="21" creationId="{00000000-0000-0000-0000-000000000000}"/>
          </ac:spMkLst>
        </pc:spChg>
      </pc:sldChg>
      <pc:sldChg chg="delSp mod">
        <pc:chgData name="Amarnath Pandey" userId="2352f38dfab10d2a" providerId="LiveId" clId="{C574E5E9-15F1-4BE8-BFE7-EAA873B8FC24}" dt="2026-09-01T18:02:42.556" v="3" actId="21"/>
        <pc:sldMkLst>
          <pc:docMk/>
          <pc:sldMk cId="0" sldId="257"/>
        </pc:sldMkLst>
        <pc:spChg chg="del">
          <ac:chgData name="Amarnath Pandey" userId="2352f38dfab10d2a" providerId="LiveId" clId="{C574E5E9-15F1-4BE8-BFE7-EAA873B8FC24}" dt="2026-09-01T18:02:42.556" v="3" actId="21"/>
          <ac:spMkLst>
            <pc:docMk/>
            <pc:sldMk cId="0" sldId="257"/>
            <ac:spMk id="17" creationId="{00000000-0000-0000-0000-000000000000}"/>
          </ac:spMkLst>
        </pc:spChg>
      </pc:sldChg>
      <pc:sldChg chg="addSp delSp mod">
        <pc:chgData name="Amarnath Pandey" userId="2352f38dfab10d2a" providerId="LiveId" clId="{C574E5E9-15F1-4BE8-BFE7-EAA873B8FC24}" dt="2026-09-01T18:02:58.516" v="6" actId="21"/>
        <pc:sldMkLst>
          <pc:docMk/>
          <pc:sldMk cId="0" sldId="258"/>
        </pc:sldMkLst>
        <pc:spChg chg="add del">
          <ac:chgData name="Amarnath Pandey" userId="2352f38dfab10d2a" providerId="LiveId" clId="{C574E5E9-15F1-4BE8-BFE7-EAA873B8FC24}" dt="2026-09-01T18:02:58.516" v="6" actId="21"/>
          <ac:spMkLst>
            <pc:docMk/>
            <pc:sldMk cId="0" sldId="258"/>
            <ac:spMk id="29" creationId="{00000000-0000-0000-0000-000000000000}"/>
          </ac:spMkLst>
        </pc:spChg>
      </pc:sldChg>
      <pc:sldChg chg="delSp mod">
        <pc:chgData name="Amarnath Pandey" userId="2352f38dfab10d2a" providerId="LiveId" clId="{C574E5E9-15F1-4BE8-BFE7-EAA873B8FC24}" dt="2026-09-01T18:03:02.997" v="7" actId="21"/>
        <pc:sldMkLst>
          <pc:docMk/>
          <pc:sldMk cId="0" sldId="259"/>
        </pc:sldMkLst>
        <pc:spChg chg="del">
          <ac:chgData name="Amarnath Pandey" userId="2352f38dfab10d2a" providerId="LiveId" clId="{C574E5E9-15F1-4BE8-BFE7-EAA873B8FC24}" dt="2026-09-01T18:03:02.997" v="7" actId="21"/>
          <ac:spMkLst>
            <pc:docMk/>
            <pc:sldMk cId="0" sldId="259"/>
            <ac:spMk id="29" creationId="{00000000-0000-0000-0000-000000000000}"/>
          </ac:spMkLst>
        </pc:spChg>
      </pc:sldChg>
      <pc:sldChg chg="delSp mod">
        <pc:chgData name="Amarnath Pandey" userId="2352f38dfab10d2a" providerId="LiveId" clId="{C574E5E9-15F1-4BE8-BFE7-EAA873B8FC24}" dt="2026-09-01T18:03:07.427" v="8" actId="21"/>
        <pc:sldMkLst>
          <pc:docMk/>
          <pc:sldMk cId="0" sldId="260"/>
        </pc:sldMkLst>
        <pc:spChg chg="del">
          <ac:chgData name="Amarnath Pandey" userId="2352f38dfab10d2a" providerId="LiveId" clId="{C574E5E9-15F1-4BE8-BFE7-EAA873B8FC24}" dt="2026-09-01T18:03:07.427" v="8" actId="21"/>
          <ac:spMkLst>
            <pc:docMk/>
            <pc:sldMk cId="0" sldId="260"/>
            <ac:spMk id="15" creationId="{00000000-0000-0000-0000-000000000000}"/>
          </ac:spMkLst>
        </pc:spChg>
      </pc:sldChg>
      <pc:sldChg chg="delSp mod">
        <pc:chgData name="Amarnath Pandey" userId="2352f38dfab10d2a" providerId="LiveId" clId="{C574E5E9-15F1-4BE8-BFE7-EAA873B8FC24}" dt="2026-09-01T18:03:11.755" v="9" actId="21"/>
        <pc:sldMkLst>
          <pc:docMk/>
          <pc:sldMk cId="0" sldId="261"/>
        </pc:sldMkLst>
        <pc:spChg chg="del">
          <ac:chgData name="Amarnath Pandey" userId="2352f38dfab10d2a" providerId="LiveId" clId="{C574E5E9-15F1-4BE8-BFE7-EAA873B8FC24}" dt="2026-09-01T18:03:11.755" v="9" actId="21"/>
          <ac:spMkLst>
            <pc:docMk/>
            <pc:sldMk cId="0" sldId="261"/>
            <ac:spMk id="25" creationId="{00000000-0000-0000-0000-000000000000}"/>
          </ac:spMkLst>
        </pc:spChg>
      </pc:sldChg>
      <pc:sldChg chg="delSp modSp mod">
        <pc:chgData name="Amarnath Pandey" userId="2352f38dfab10d2a" providerId="LiveId" clId="{C574E5E9-15F1-4BE8-BFE7-EAA873B8FC24}" dt="2026-09-01T18:02:32.238" v="1" actId="21"/>
        <pc:sldMkLst>
          <pc:docMk/>
          <pc:sldMk cId="0" sldId="262"/>
        </pc:sldMkLst>
        <pc:spChg chg="del mod">
          <ac:chgData name="Amarnath Pandey" userId="2352f38dfab10d2a" providerId="LiveId" clId="{C574E5E9-15F1-4BE8-BFE7-EAA873B8FC24}" dt="2026-09-01T18:02:32.238" v="1" actId="21"/>
          <ac:spMkLst>
            <pc:docMk/>
            <pc:sldMk cId="0" sldId="262"/>
            <ac:spMk id="29" creationId="{00000000-0000-0000-0000-000000000000}"/>
          </ac:spMkLst>
        </pc:spChg>
      </pc:sldChg>
      <pc:sldChg chg="delSp mod">
        <pc:chgData name="Amarnath Pandey" userId="2352f38dfab10d2a" providerId="LiveId" clId="{C574E5E9-15F1-4BE8-BFE7-EAA873B8FC24}" dt="2026-09-01T18:03:18.891" v="10" actId="21"/>
        <pc:sldMkLst>
          <pc:docMk/>
          <pc:sldMk cId="0" sldId="263"/>
        </pc:sldMkLst>
        <pc:spChg chg="del">
          <ac:chgData name="Amarnath Pandey" userId="2352f38dfab10d2a" providerId="LiveId" clId="{C574E5E9-15F1-4BE8-BFE7-EAA873B8FC24}" dt="2026-09-01T18:03:18.891" v="10" actId="21"/>
          <ac:spMkLst>
            <pc:docMk/>
            <pc:sldMk cId="0" sldId="263"/>
            <ac:spMk id="14" creationId="{00000000-0000-0000-0000-000000000000}"/>
          </ac:spMkLst>
        </pc:spChg>
      </pc:sldChg>
      <pc:sldChg chg="delSp mod">
        <pc:chgData name="Amarnath Pandey" userId="2352f38dfab10d2a" providerId="LiveId" clId="{C574E5E9-15F1-4BE8-BFE7-EAA873B8FC24}" dt="2026-09-01T18:03:22.691" v="11" actId="21"/>
        <pc:sldMkLst>
          <pc:docMk/>
          <pc:sldMk cId="0" sldId="264"/>
        </pc:sldMkLst>
        <pc:spChg chg="del">
          <ac:chgData name="Amarnath Pandey" userId="2352f38dfab10d2a" providerId="LiveId" clId="{C574E5E9-15F1-4BE8-BFE7-EAA873B8FC24}" dt="2026-09-01T18:03:22.691" v="11" actId="21"/>
          <ac:spMkLst>
            <pc:docMk/>
            <pc:sldMk cId="0" sldId="264"/>
            <ac:spMk id="17" creationId="{00000000-0000-0000-0000-000000000000}"/>
          </ac:spMkLst>
        </pc:spChg>
      </pc:sldChg>
      <pc:sldChg chg="delSp mod">
        <pc:chgData name="Amarnath Pandey" userId="2352f38dfab10d2a" providerId="LiveId" clId="{C574E5E9-15F1-4BE8-BFE7-EAA873B8FC24}" dt="2026-09-01T18:03:25.963" v="12" actId="21"/>
        <pc:sldMkLst>
          <pc:docMk/>
          <pc:sldMk cId="0" sldId="265"/>
        </pc:sldMkLst>
        <pc:spChg chg="del">
          <ac:chgData name="Amarnath Pandey" userId="2352f38dfab10d2a" providerId="LiveId" clId="{C574E5E9-15F1-4BE8-BFE7-EAA873B8FC24}" dt="2026-09-01T18:03:25.963" v="12" actId="21"/>
          <ac:spMkLst>
            <pc:docMk/>
            <pc:sldMk cId="0" sldId="265"/>
            <ac:spMk id="25" creationId="{00000000-0000-0000-0000-000000000000}"/>
          </ac:spMkLst>
        </pc:spChg>
      </pc:sldChg>
      <pc:sldChg chg="delSp mod">
        <pc:chgData name="Amarnath Pandey" userId="2352f38dfab10d2a" providerId="LiveId" clId="{C574E5E9-15F1-4BE8-BFE7-EAA873B8FC24}" dt="2026-09-01T18:03:32.587" v="13" actId="21"/>
        <pc:sldMkLst>
          <pc:docMk/>
          <pc:sldMk cId="0" sldId="266"/>
        </pc:sldMkLst>
        <pc:spChg chg="del">
          <ac:chgData name="Amarnath Pandey" userId="2352f38dfab10d2a" providerId="LiveId" clId="{C574E5E9-15F1-4BE8-BFE7-EAA873B8FC24}" dt="2026-09-01T18:03:32.587" v="13" actId="21"/>
          <ac:spMkLst>
            <pc:docMk/>
            <pc:sldMk cId="0" sldId="266"/>
            <ac:spMk id="29" creationId="{00000000-0000-0000-0000-000000000000}"/>
          </ac:spMkLst>
        </pc:spChg>
      </pc:sldChg>
      <pc:sldChg chg="delSp mod">
        <pc:chgData name="Amarnath Pandey" userId="2352f38dfab10d2a" providerId="LiveId" clId="{C574E5E9-15F1-4BE8-BFE7-EAA873B8FC24}" dt="2026-09-01T18:03:36.500" v="14" actId="21"/>
        <pc:sldMkLst>
          <pc:docMk/>
          <pc:sldMk cId="0" sldId="267"/>
        </pc:sldMkLst>
        <pc:spChg chg="del">
          <ac:chgData name="Amarnath Pandey" userId="2352f38dfab10d2a" providerId="LiveId" clId="{C574E5E9-15F1-4BE8-BFE7-EAA873B8FC24}" dt="2026-09-01T18:03:36.500" v="14" actId="21"/>
          <ac:spMkLst>
            <pc:docMk/>
            <pc:sldMk cId="0" sldId="267"/>
            <ac:spMk id="25" creationId="{00000000-0000-0000-0000-000000000000}"/>
          </ac:spMkLst>
        </pc:spChg>
      </pc:sldChg>
      <pc:sldChg chg="delSp mod">
        <pc:chgData name="Amarnath Pandey" userId="2352f38dfab10d2a" providerId="LiveId" clId="{C574E5E9-15F1-4BE8-BFE7-EAA873B8FC24}" dt="2026-09-01T18:03:39.379" v="15" actId="21"/>
        <pc:sldMkLst>
          <pc:docMk/>
          <pc:sldMk cId="0" sldId="268"/>
        </pc:sldMkLst>
        <pc:spChg chg="del">
          <ac:chgData name="Amarnath Pandey" userId="2352f38dfab10d2a" providerId="LiveId" clId="{C574E5E9-15F1-4BE8-BFE7-EAA873B8FC24}" dt="2026-09-01T18:03:39.379" v="15" actId="21"/>
          <ac:spMkLst>
            <pc:docMk/>
            <pc:sldMk cId="0" sldId="268"/>
            <ac:spMk id="29" creationId="{00000000-0000-0000-0000-000000000000}"/>
          </ac:spMkLst>
        </pc:spChg>
      </pc:sldChg>
      <pc:sldChg chg="delSp mod">
        <pc:chgData name="Amarnath Pandey" userId="2352f38dfab10d2a" providerId="LiveId" clId="{C574E5E9-15F1-4BE8-BFE7-EAA873B8FC24}" dt="2026-09-01T18:03:43.412" v="16" actId="21"/>
        <pc:sldMkLst>
          <pc:docMk/>
          <pc:sldMk cId="0" sldId="269"/>
        </pc:sldMkLst>
        <pc:spChg chg="del">
          <ac:chgData name="Amarnath Pandey" userId="2352f38dfab10d2a" providerId="LiveId" clId="{C574E5E9-15F1-4BE8-BFE7-EAA873B8FC24}" dt="2026-09-01T18:03:43.412" v="16" actId="21"/>
          <ac:spMkLst>
            <pc:docMk/>
            <pc:sldMk cId="0" sldId="269"/>
            <ac:spMk id="16" creationId="{00000000-0000-0000-0000-000000000000}"/>
          </ac:spMkLst>
        </pc:spChg>
      </pc:sldChg>
      <pc:sldChg chg="delSp mod">
        <pc:chgData name="Amarnath Pandey" userId="2352f38dfab10d2a" providerId="LiveId" clId="{C574E5E9-15F1-4BE8-BFE7-EAA873B8FC24}" dt="2026-09-01T18:03:46.380" v="17" actId="21"/>
        <pc:sldMkLst>
          <pc:docMk/>
          <pc:sldMk cId="0" sldId="270"/>
        </pc:sldMkLst>
        <pc:spChg chg="del">
          <ac:chgData name="Amarnath Pandey" userId="2352f38dfab10d2a" providerId="LiveId" clId="{C574E5E9-15F1-4BE8-BFE7-EAA873B8FC24}" dt="2026-09-01T18:03:46.380" v="17" actId="21"/>
          <ac:spMkLst>
            <pc:docMk/>
            <pc:sldMk cId="0" sldId="270"/>
            <ac:spMk id="10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F3741"/>
          </a:solidFill>
          <a:ln>
            <a:solidFill>
              <a:srgbClr val="BF3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58368" y="530352"/>
            <a:ext cx="932688" cy="932688"/>
          </a:xfrm>
          <a:prstGeom prst="roundRect">
            <a:avLst/>
          </a:prstGeom>
          <a:solidFill>
            <a:srgbClr val="F4F7FB"/>
          </a:solidFill>
          <a:ln>
            <a:solidFill>
              <a:srgbClr val="C195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768096"/>
            <a:ext cx="9326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255B97"/>
                </a:solidFill>
                <a:latin typeface="Aptos"/>
              </a:rPr>
              <a:t>IILM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069848"/>
            <a:ext cx="93268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>
                <a:solidFill>
                  <a:srgbClr val="1E2834"/>
                </a:solidFill>
                <a:latin typeface="Aptos"/>
              </a:rPr>
              <a:t>UNIVERSITY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6400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1E2834"/>
                </a:solidFill>
                <a:latin typeface="Aptos"/>
              </a:rPr>
              <a:t>IILM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00584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36E7D"/>
                </a:solidFill>
                <a:latin typeface="Aptos"/>
              </a:rPr>
              <a:t>INTERNSHIP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993392"/>
            <a:ext cx="6583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E2834"/>
                </a:solidFill>
                <a:latin typeface="Aptos"/>
              </a:rPr>
              <a:t>C++ Programming &amp;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542032"/>
            <a:ext cx="79552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55B97"/>
                </a:solidFill>
                <a:latin typeface="Aptos"/>
              </a:rPr>
              <a:t>Object-Oriented Development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182112"/>
            <a:ext cx="7589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36E7D"/>
                </a:solidFill>
                <a:latin typeface="Aptos"/>
              </a:rPr>
              <a:t>What I learned and built during my internship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840480"/>
            <a:ext cx="7040880" cy="1481328"/>
          </a:xfrm>
          <a:prstGeom prst="roundRect">
            <a:avLst/>
          </a:prstGeom>
          <a:solidFill>
            <a:srgbClr val="F4F7FB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409651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36E7D"/>
                </a:solidFill>
                <a:latin typeface="Aptos"/>
              </a:rPr>
              <a:t>STUDENT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404164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E2834"/>
                </a:solidFill>
                <a:latin typeface="Aptos"/>
              </a:rPr>
              <a:t>Amarnath Pandey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48056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36E7D"/>
                </a:solidFill>
                <a:latin typeface="Aptos"/>
              </a:rPr>
              <a:t>ENROLLMENT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4425696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E2834"/>
                </a:solidFill>
                <a:latin typeface="Aptos"/>
              </a:rPr>
              <a:t>25SCS1003004906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864608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36E7D"/>
                </a:solidFill>
                <a:latin typeface="Aptos"/>
              </a:rPr>
              <a:t>PROGRAM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20" y="4809744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E2834"/>
                </a:solidFill>
                <a:latin typeface="Aptos"/>
              </a:rPr>
              <a:t>B.Tech CSE • 3rd Semester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4133088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dirty="0">
                <a:solidFill>
                  <a:srgbClr val="636E7D"/>
                </a:solidFill>
                <a:latin typeface="Aptos"/>
              </a:rPr>
              <a:t>ORGANIZATION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437083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dirty="0">
                <a:solidFill>
                  <a:srgbClr val="BF3741"/>
                </a:solidFill>
                <a:latin typeface="Aptos"/>
              </a:rPr>
              <a:t>EDVYRO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649224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dirty="0">
                <a:solidFill>
                  <a:srgbClr val="636E7D"/>
                </a:solidFill>
                <a:latin typeface="Aptos"/>
              </a:rPr>
              <a:t>Amarnath Pandey</a:t>
            </a:r>
          </a:p>
        </p:txBody>
      </p:sp>
      <p:pic>
        <p:nvPicPr>
          <p:cNvPr id="23" name="Picture 22" descr="IILM University, Gurugram | Gurugram">
            <a:extLst>
              <a:ext uri="{FF2B5EF4-FFF2-40B4-BE49-F238E27FC236}">
                <a16:creationId xmlns:a16="http://schemas.microsoft.com/office/drawing/2014/main" id="{844ADE20-7CE1-5007-0CF5-096087867B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7856" y="5376672"/>
            <a:ext cx="1389888" cy="1389888"/>
          </a:xfrm>
          <a:prstGeom prst="rect">
            <a:avLst/>
          </a:prstGeom>
        </p:spPr>
      </p:pic>
      <p:pic>
        <p:nvPicPr>
          <p:cNvPr id="25" name="Picture 24" descr="IILM University, Gurugram | Gurugram">
            <a:extLst>
              <a:ext uri="{FF2B5EF4-FFF2-40B4-BE49-F238E27FC236}">
                <a16:creationId xmlns:a16="http://schemas.microsoft.com/office/drawing/2014/main" id="{77FA80BD-101F-AA90-359F-9651BF07FC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192024"/>
            <a:ext cx="1389888" cy="138988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47472"/>
            <a:ext cx="10881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E2834"/>
                </a:solidFill>
                <a:latin typeface="Aptos"/>
              </a:rPr>
              <a:t>Internship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50392"/>
            <a:ext cx="713232" cy="50292"/>
          </a:xfrm>
          <a:prstGeom prst="rect">
            <a:avLst/>
          </a:prstGeom>
          <a:solidFill>
            <a:srgbClr val="BF3741"/>
          </a:solidFill>
          <a:ln>
            <a:solidFill>
              <a:srgbClr val="BF3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987552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36E7D"/>
                </a:solidFill>
                <a:latin typeface="Aptos"/>
              </a:rPr>
              <a:t>A practical learning experience — from concepts to working C++ projects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08760"/>
            <a:ext cx="3474720" cy="4251960"/>
          </a:xfrm>
          <a:prstGeom prst="roundRect">
            <a:avLst/>
          </a:prstGeom>
          <a:solidFill>
            <a:srgbClr val="F4F7FB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508760"/>
            <a:ext cx="64008" cy="4251960"/>
          </a:xfrm>
          <a:prstGeom prst="rect">
            <a:avLst/>
          </a:prstGeom>
          <a:solidFill>
            <a:srgbClr val="BF3741"/>
          </a:solidFill>
          <a:ln>
            <a:solidFill>
              <a:srgbClr val="BF3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691639"/>
            <a:ext cx="30632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E2834"/>
                </a:solidFill>
                <a:latin typeface="Aptos"/>
              </a:rPr>
              <a:t>01  What I worked 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75688"/>
            <a:ext cx="3063239" cy="3538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636E7D"/>
                </a:solidFill>
                <a:latin typeface="Aptos"/>
              </a:rPr>
              <a:t>I worked on C++ projects that helped me understand program structure, reusable functions, data handling and object-oriented programming.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61688" y="1508760"/>
            <a:ext cx="3474720" cy="4251960"/>
          </a:xfrm>
          <a:prstGeom prst="roundRect">
            <a:avLst/>
          </a:prstGeom>
          <a:solidFill>
            <a:srgbClr val="F4F7FB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61688" y="1508760"/>
            <a:ext cx="64008" cy="4251960"/>
          </a:xfrm>
          <a:prstGeom prst="rect">
            <a:avLst/>
          </a:prstGeom>
          <a:solidFill>
            <a:srgbClr val="255B97"/>
          </a:solidFill>
          <a:ln>
            <a:solidFill>
              <a:srgbClr val="255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90288" y="1691639"/>
            <a:ext cx="30632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E2834"/>
                </a:solidFill>
                <a:latin typeface="Aptos"/>
              </a:rPr>
              <a:t>02  What I built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2075688"/>
            <a:ext cx="3063239" cy="3538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636E7D"/>
                </a:solidFill>
                <a:latin typeface="Aptos"/>
              </a:rPr>
              <a:t>I built a Library Manager using OOP and a command-line Expense Tracker. Both gave me practice with real programming tasks.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37575" y="1508760"/>
            <a:ext cx="3474720" cy="4251960"/>
          </a:xfrm>
          <a:prstGeom prst="roundRect">
            <a:avLst/>
          </a:prstGeom>
          <a:solidFill>
            <a:srgbClr val="F4F7FB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37575" y="1508760"/>
            <a:ext cx="64008" cy="4251960"/>
          </a:xfrm>
          <a:prstGeom prst="rect">
            <a:avLst/>
          </a:prstGeom>
          <a:solidFill>
            <a:srgbClr val="377E5B"/>
          </a:solidFill>
          <a:ln>
            <a:solidFill>
              <a:srgbClr val="377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66175" y="1691639"/>
            <a:ext cx="30632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E2834"/>
                </a:solidFill>
                <a:latin typeface="Aptos"/>
              </a:rPr>
              <a:t>03  What I gained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6175" y="2075688"/>
            <a:ext cx="3063239" cy="3538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636E7D"/>
                </a:solidFill>
                <a:latin typeface="Aptos"/>
              </a:rPr>
              <a:t>I became more confident with problem-solving, debugging, organizing code, testing programs and explaining my work.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0" y="649224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36E7D"/>
                </a:solidFill>
                <a:latin typeface="Aptos"/>
              </a:rPr>
              <a:t>Amarnath Pandey</a:t>
            </a:r>
          </a:p>
        </p:txBody>
      </p:sp>
      <p:pic>
        <p:nvPicPr>
          <p:cNvPr id="20" name="Picture 19" descr="IILM University, Gurugram | Gurugram">
            <a:extLst>
              <a:ext uri="{FF2B5EF4-FFF2-40B4-BE49-F238E27FC236}">
                <a16:creationId xmlns:a16="http://schemas.microsoft.com/office/drawing/2014/main" id="{73C070C1-288B-398E-C4D2-484E29640D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7856" y="5431536"/>
            <a:ext cx="1389888" cy="138988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47472"/>
            <a:ext cx="10881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E2834"/>
                </a:solidFill>
                <a:latin typeface="Aptos"/>
              </a:rPr>
              <a:t>Internship 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50392"/>
            <a:ext cx="713232" cy="50292"/>
          </a:xfrm>
          <a:prstGeom prst="rect">
            <a:avLst/>
          </a:prstGeom>
          <a:solidFill>
            <a:srgbClr val="BF3741"/>
          </a:solidFill>
          <a:ln>
            <a:solidFill>
              <a:srgbClr val="BF3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987552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36E7D"/>
                </a:solidFill>
                <a:latin typeface="Aptos"/>
              </a:rPr>
              <a:t>The main things I wanted to improve during the internship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3429000" cy="1874519"/>
          </a:xfrm>
          <a:prstGeom prst="roundRect">
            <a:avLst/>
          </a:prstGeom>
          <a:solidFill>
            <a:srgbClr val="F4F7FB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417320"/>
            <a:ext cx="64008" cy="1874519"/>
          </a:xfrm>
          <a:prstGeom prst="rect">
            <a:avLst/>
          </a:prstGeom>
          <a:solidFill>
            <a:srgbClr val="BF3741"/>
          </a:solidFill>
          <a:ln>
            <a:solidFill>
              <a:srgbClr val="BF3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3017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E2834"/>
                </a:solidFill>
                <a:latin typeface="Aptos"/>
              </a:rPr>
              <a:t>BUILD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84248"/>
            <a:ext cx="3017520" cy="1161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636E7D"/>
                </a:solidFill>
                <a:latin typeface="Aptos"/>
              </a:rPr>
              <a:t>Build working C++ programs from simple requirements.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417320"/>
            <a:ext cx="3429000" cy="1874519"/>
          </a:xfrm>
          <a:prstGeom prst="roundRect">
            <a:avLst/>
          </a:prstGeom>
          <a:solidFill>
            <a:srgbClr val="F4F7FB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89120" y="1417320"/>
            <a:ext cx="64008" cy="1874519"/>
          </a:xfrm>
          <a:prstGeom prst="rect">
            <a:avLst/>
          </a:prstGeom>
          <a:solidFill>
            <a:srgbClr val="255B97"/>
          </a:solidFill>
          <a:ln>
            <a:solidFill>
              <a:srgbClr val="255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17720" y="1600200"/>
            <a:ext cx="3017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E2834"/>
                </a:solidFill>
                <a:latin typeface="Aptos"/>
              </a:rPr>
              <a:t>OOP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1984248"/>
            <a:ext cx="3017520" cy="1161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636E7D"/>
                </a:solidFill>
                <a:latin typeface="Aptos"/>
              </a:rPr>
              <a:t>Understand classes, objects and encapsulation.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417320"/>
            <a:ext cx="3429000" cy="1874519"/>
          </a:xfrm>
          <a:prstGeom prst="roundRect">
            <a:avLst/>
          </a:prstGeom>
          <a:solidFill>
            <a:srgbClr val="F4F7FB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92440" y="1417320"/>
            <a:ext cx="64008" cy="1874519"/>
          </a:xfrm>
          <a:prstGeom prst="rect">
            <a:avLst/>
          </a:prstGeom>
          <a:solidFill>
            <a:srgbClr val="377E5B"/>
          </a:solidFill>
          <a:ln>
            <a:solidFill>
              <a:srgbClr val="377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21040" y="1600200"/>
            <a:ext cx="3017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E2834"/>
                </a:solidFill>
                <a:latin typeface="Aptos"/>
              </a:rPr>
              <a:t>STL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1984248"/>
            <a:ext cx="3017520" cy="1161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636E7D"/>
                </a:solidFill>
                <a:latin typeface="Aptos"/>
              </a:rPr>
              <a:t>Get comfortable with vectors and basic STL concepts.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657600"/>
            <a:ext cx="3429000" cy="1874519"/>
          </a:xfrm>
          <a:prstGeom prst="roundRect">
            <a:avLst/>
          </a:prstGeom>
          <a:solidFill>
            <a:srgbClr val="F4F7FB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85800" y="3657600"/>
            <a:ext cx="64008" cy="1874519"/>
          </a:xfrm>
          <a:prstGeom prst="rect">
            <a:avLst/>
          </a:prstGeom>
          <a:solidFill>
            <a:srgbClr val="C1953A"/>
          </a:solidFill>
          <a:ln>
            <a:solidFill>
              <a:srgbClr val="C195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3840480"/>
            <a:ext cx="3017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E2834"/>
                </a:solidFill>
                <a:latin typeface="Aptos"/>
              </a:rPr>
              <a:t>VALIDATE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224528"/>
            <a:ext cx="3017520" cy="1161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636E7D"/>
                </a:solidFill>
                <a:latin typeface="Aptos"/>
              </a:rPr>
              <a:t>Handle wrong or unexpected input.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3657600"/>
            <a:ext cx="3429000" cy="1874519"/>
          </a:xfrm>
          <a:prstGeom prst="roundRect">
            <a:avLst/>
          </a:prstGeom>
          <a:solidFill>
            <a:srgbClr val="F4F7FB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389120" y="3657600"/>
            <a:ext cx="64008" cy="1874519"/>
          </a:xfrm>
          <a:prstGeom prst="rect">
            <a:avLst/>
          </a:prstGeom>
          <a:solidFill>
            <a:srgbClr val="BF3741"/>
          </a:solidFill>
          <a:ln>
            <a:solidFill>
              <a:srgbClr val="BF3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617720" y="3840480"/>
            <a:ext cx="3017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E2834"/>
                </a:solidFill>
                <a:latin typeface="Aptos"/>
              </a:rPr>
              <a:t>PERSIST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17720" y="4224528"/>
            <a:ext cx="3017520" cy="1161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636E7D"/>
                </a:solidFill>
                <a:latin typeface="Aptos"/>
              </a:rPr>
              <a:t>Save and load application data using files.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92440" y="3657600"/>
            <a:ext cx="3429000" cy="1874519"/>
          </a:xfrm>
          <a:prstGeom prst="roundRect">
            <a:avLst/>
          </a:prstGeom>
          <a:solidFill>
            <a:srgbClr val="F4F7FB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092440" y="3657600"/>
            <a:ext cx="64008" cy="1874519"/>
          </a:xfrm>
          <a:prstGeom prst="rect">
            <a:avLst/>
          </a:prstGeom>
          <a:solidFill>
            <a:srgbClr val="255B97"/>
          </a:solidFill>
          <a:ln>
            <a:solidFill>
              <a:srgbClr val="255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321040" y="3840480"/>
            <a:ext cx="3017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E2834"/>
                </a:solidFill>
                <a:latin typeface="Aptos"/>
              </a:rPr>
              <a:t>DOCUMENT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4224528"/>
            <a:ext cx="3017520" cy="1161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636E7D"/>
                </a:solidFill>
                <a:latin typeface="Aptos"/>
              </a:rPr>
              <a:t>Organize and present my work clearly on GitHub.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35440" y="649224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36E7D"/>
                </a:solidFill>
                <a:latin typeface="Aptos"/>
              </a:rPr>
              <a:t>Amarnath Pandey</a:t>
            </a:r>
          </a:p>
        </p:txBody>
      </p:sp>
      <p:pic>
        <p:nvPicPr>
          <p:cNvPr id="32" name="Picture 31" descr="IILM University, Gurugram | Gurugram">
            <a:extLst>
              <a:ext uri="{FF2B5EF4-FFF2-40B4-BE49-F238E27FC236}">
                <a16:creationId xmlns:a16="http://schemas.microsoft.com/office/drawing/2014/main" id="{93C61BAB-25E5-08CA-FF57-FDB2FCB1BB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7856" y="5376672"/>
            <a:ext cx="1389888" cy="138988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47472"/>
            <a:ext cx="10881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E2834"/>
                </a:solidFill>
                <a:latin typeface="Aptos"/>
              </a:rPr>
              <a:t>Technology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50392"/>
            <a:ext cx="713232" cy="50292"/>
          </a:xfrm>
          <a:prstGeom prst="rect">
            <a:avLst/>
          </a:prstGeom>
          <a:solidFill>
            <a:srgbClr val="BF3741"/>
          </a:solidFill>
          <a:ln>
            <a:solidFill>
              <a:srgbClr val="BF3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987552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36E7D"/>
                </a:solidFill>
                <a:latin typeface="Aptos"/>
              </a:rPr>
              <a:t>Tools and concepts I used in the projects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71600"/>
            <a:ext cx="5212080" cy="1234440"/>
          </a:xfrm>
          <a:prstGeom prst="roundRect">
            <a:avLst/>
          </a:prstGeom>
          <a:solidFill>
            <a:srgbClr val="F4F7FB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371600"/>
            <a:ext cx="64008" cy="1234440"/>
          </a:xfrm>
          <a:prstGeom prst="rect">
            <a:avLst/>
          </a:prstGeom>
          <a:solidFill>
            <a:srgbClr val="255B97"/>
          </a:solidFill>
          <a:ln>
            <a:solidFill>
              <a:srgbClr val="255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E2834"/>
                </a:solidFill>
                <a:latin typeface="Aptos"/>
              </a:rPr>
              <a:t>C++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38528"/>
            <a:ext cx="480060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636E7D"/>
                </a:solidFill>
                <a:latin typeface="Aptos"/>
              </a:rPr>
              <a:t>Used for both internship projects.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371600"/>
            <a:ext cx="5212080" cy="1234440"/>
          </a:xfrm>
          <a:prstGeom prst="roundRect">
            <a:avLst/>
          </a:prstGeom>
          <a:solidFill>
            <a:srgbClr val="F4F7FB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63640" y="1371600"/>
            <a:ext cx="64008" cy="1234440"/>
          </a:xfrm>
          <a:prstGeom prst="rect">
            <a:avLst/>
          </a:prstGeom>
          <a:solidFill>
            <a:srgbClr val="BF3741"/>
          </a:solidFill>
          <a:ln>
            <a:solidFill>
              <a:srgbClr val="BF3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92240" y="1554480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E2834"/>
                </a:solidFill>
                <a:latin typeface="Aptos"/>
              </a:rPr>
              <a:t>OOP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938528"/>
            <a:ext cx="480060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636E7D"/>
                </a:solidFill>
                <a:latin typeface="Aptos"/>
              </a:rPr>
              <a:t>Used mainly in the Library Manager.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926080"/>
            <a:ext cx="5212080" cy="1234440"/>
          </a:xfrm>
          <a:prstGeom prst="roundRect">
            <a:avLst/>
          </a:prstGeom>
          <a:solidFill>
            <a:srgbClr val="F4F7FB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85800" y="2926080"/>
            <a:ext cx="64008" cy="1234440"/>
          </a:xfrm>
          <a:prstGeom prst="rect">
            <a:avLst/>
          </a:prstGeom>
          <a:solidFill>
            <a:srgbClr val="377E5B"/>
          </a:solidFill>
          <a:ln>
            <a:solidFill>
              <a:srgbClr val="377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3108960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E2834"/>
                </a:solidFill>
                <a:latin typeface="Aptos"/>
              </a:rPr>
              <a:t>STL / Vector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493008"/>
            <a:ext cx="480060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636E7D"/>
                </a:solidFill>
                <a:latin typeface="Aptos"/>
              </a:rPr>
              <a:t>Used vectors to store project data.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2926080"/>
            <a:ext cx="5212080" cy="1234440"/>
          </a:xfrm>
          <a:prstGeom prst="roundRect">
            <a:avLst/>
          </a:prstGeom>
          <a:solidFill>
            <a:srgbClr val="F4F7FB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63640" y="2926080"/>
            <a:ext cx="64008" cy="1234440"/>
          </a:xfrm>
          <a:prstGeom prst="rect">
            <a:avLst/>
          </a:prstGeom>
          <a:solidFill>
            <a:srgbClr val="C1953A"/>
          </a:solidFill>
          <a:ln>
            <a:solidFill>
              <a:srgbClr val="C195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92240" y="3108960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E2834"/>
                </a:solidFill>
                <a:latin typeface="Aptos"/>
              </a:rPr>
              <a:t>File Handling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493008"/>
            <a:ext cx="480060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636E7D"/>
                </a:solidFill>
                <a:latin typeface="Aptos"/>
              </a:rPr>
              <a:t>Used files to keep data after the program closes.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480560"/>
            <a:ext cx="5212080" cy="1234440"/>
          </a:xfrm>
          <a:prstGeom prst="roundRect">
            <a:avLst/>
          </a:prstGeom>
          <a:solidFill>
            <a:srgbClr val="F4F7FB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85800" y="4480560"/>
            <a:ext cx="64008" cy="1234440"/>
          </a:xfrm>
          <a:prstGeom prst="rect">
            <a:avLst/>
          </a:prstGeom>
          <a:solidFill>
            <a:srgbClr val="255B97"/>
          </a:solidFill>
          <a:ln>
            <a:solidFill>
              <a:srgbClr val="255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4400" y="4663440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E2834"/>
                </a:solidFill>
                <a:latin typeface="Aptos"/>
              </a:rPr>
              <a:t>Input Validation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047488"/>
            <a:ext cx="480060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636E7D"/>
                </a:solidFill>
                <a:latin typeface="Aptos"/>
              </a:rPr>
              <a:t>Checked user input before using it.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4480560"/>
            <a:ext cx="5212080" cy="1234440"/>
          </a:xfrm>
          <a:prstGeom prst="roundRect">
            <a:avLst/>
          </a:prstGeom>
          <a:solidFill>
            <a:srgbClr val="F4F7FB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263640" y="4480560"/>
            <a:ext cx="64008" cy="1234440"/>
          </a:xfrm>
          <a:prstGeom prst="rect">
            <a:avLst/>
          </a:prstGeom>
          <a:solidFill>
            <a:srgbClr val="BF3741"/>
          </a:solidFill>
          <a:ln>
            <a:solidFill>
              <a:srgbClr val="BF3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92240" y="4663440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E2834"/>
                </a:solidFill>
                <a:latin typeface="Aptos"/>
              </a:rPr>
              <a:t>Git &amp; GitHub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5047488"/>
            <a:ext cx="480060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636E7D"/>
                </a:solidFill>
                <a:latin typeface="Aptos"/>
              </a:rPr>
              <a:t>Used GitHub to store and present my work.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35440" y="649224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36E7D"/>
                </a:solidFill>
                <a:latin typeface="Aptos"/>
              </a:rPr>
              <a:t>Amarnath Pandey</a:t>
            </a:r>
          </a:p>
        </p:txBody>
      </p:sp>
      <p:pic>
        <p:nvPicPr>
          <p:cNvPr id="32" name="Picture 31" descr="IILM University, Gurugram | Gurugram">
            <a:extLst>
              <a:ext uri="{FF2B5EF4-FFF2-40B4-BE49-F238E27FC236}">
                <a16:creationId xmlns:a16="http://schemas.microsoft.com/office/drawing/2014/main" id="{70F317E7-99ED-8118-1CDD-05699BF39C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7856" y="5376672"/>
            <a:ext cx="1389888" cy="138988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47472"/>
            <a:ext cx="10881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E2834"/>
                </a:solidFill>
                <a:latin typeface="Aptos"/>
              </a:rPr>
              <a:t>Project 01 — Object-Oriented Library Manager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50392"/>
            <a:ext cx="713232" cy="50292"/>
          </a:xfrm>
          <a:prstGeom prst="rect">
            <a:avLst/>
          </a:prstGeom>
          <a:solidFill>
            <a:srgbClr val="BF3741"/>
          </a:solidFill>
          <a:ln>
            <a:solidFill>
              <a:srgbClr val="BF3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987552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36E7D"/>
                </a:solidFill>
                <a:latin typeface="Aptos"/>
              </a:rPr>
              <a:t>A small library system built in C++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298448"/>
            <a:ext cx="1234440" cy="384048"/>
          </a:xfrm>
          <a:prstGeom prst="roundRect">
            <a:avLst/>
          </a:prstGeom>
          <a:solidFill>
            <a:srgbClr val="BF3741"/>
          </a:solidFill>
          <a:ln>
            <a:solidFill>
              <a:srgbClr val="BF3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1371600"/>
            <a:ext cx="1234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PROJECT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874519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1E2834"/>
                </a:solidFill>
                <a:latin typeface="Aptos"/>
              </a:rPr>
              <a:t>I built a small library system using separate classes for books, members, loans and the library itself.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880360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BF3741"/>
                </a:solidFill>
                <a:latin typeface="Aptos"/>
              </a:rPr>
              <a:t>MY GOAL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182112"/>
            <a:ext cx="53035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36E7D"/>
                </a:solidFill>
                <a:latin typeface="Aptos"/>
              </a:rPr>
              <a:t>Make common library tasks simple while getting practical experience with object-oriented programming.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977639"/>
            <a:ext cx="5303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E2834"/>
                </a:solidFill>
                <a:latin typeface="Aptos"/>
              </a:defRPr>
            </a:pPr>
            <a:r>
              <a:t>•  Separate classes for books, members and loans</a:t>
            </a:r>
          </a:p>
          <a:p>
            <a:pPr>
              <a:spcAft>
                <a:spcPts val="800"/>
              </a:spcAft>
              <a:defRPr sz="1400">
                <a:solidFill>
                  <a:srgbClr val="1E2834"/>
                </a:solidFill>
                <a:latin typeface="Aptos"/>
              </a:defRPr>
            </a:pPr>
            <a:r>
              <a:t>•  Search books and check availability</a:t>
            </a:r>
          </a:p>
          <a:p>
            <a:pPr>
              <a:spcAft>
                <a:spcPts val="800"/>
              </a:spcAft>
              <a:defRPr sz="1400">
                <a:solidFill>
                  <a:srgbClr val="1E2834"/>
                </a:solidFill>
                <a:latin typeface="Aptos"/>
              </a:defRPr>
            </a:pPr>
            <a:r>
              <a:t>•  Issue books to members and return them</a:t>
            </a:r>
          </a:p>
          <a:p>
            <a:pPr>
              <a:spcAft>
                <a:spcPts val="800"/>
              </a:spcAft>
              <a:defRPr sz="1400">
                <a:solidFill>
                  <a:srgbClr val="1E2834"/>
                </a:solidFill>
                <a:latin typeface="Aptos"/>
              </a:defRPr>
            </a:pPr>
            <a:r>
              <a:t>•  Save records to files and load them later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1417320"/>
            <a:ext cx="4892040" cy="4251960"/>
          </a:xfrm>
          <a:prstGeom prst="roundRect">
            <a:avLst/>
          </a:prstGeom>
          <a:solidFill>
            <a:srgbClr val="F7F9FC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12280" y="171907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36E7D"/>
                </a:solidFill>
                <a:latin typeface="Aptos"/>
              </a:rPr>
              <a:t>CORE STRUCTURE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12280" y="2194560"/>
            <a:ext cx="411480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834"/>
                </a:solidFill>
                <a:latin typeface="Aptos"/>
              </a:rPr>
              <a:t>class Library {
    vector&lt;Book&gt; books;
    vector&lt;Member&gt; members;
    vector&lt;Loan&gt; loans;
    void issueBook();
    void returnBook();
    void saveRecords();
    void loadRecords();
};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12280" y="4892040"/>
            <a:ext cx="39776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36E7D"/>
                </a:solidFill>
                <a:latin typeface="Aptos"/>
              </a:rPr>
              <a:t>The Library class brings the main operations together.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0" y="649224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36E7D"/>
                </a:solidFill>
                <a:latin typeface="Aptos"/>
              </a:rPr>
              <a:t>Amarnath Pandey</a:t>
            </a:r>
          </a:p>
        </p:txBody>
      </p:sp>
      <p:pic>
        <p:nvPicPr>
          <p:cNvPr id="18" name="Picture 17" descr="IILM University, Gurugram | Gurugram">
            <a:extLst>
              <a:ext uri="{FF2B5EF4-FFF2-40B4-BE49-F238E27FC236}">
                <a16:creationId xmlns:a16="http://schemas.microsoft.com/office/drawing/2014/main" id="{E546CC53-D531-BF5B-458B-6648EAF7FB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7856" y="5376672"/>
            <a:ext cx="1389888" cy="138988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47472"/>
            <a:ext cx="10881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E2834"/>
                </a:solidFill>
                <a:latin typeface="Aptos"/>
              </a:rPr>
              <a:t>Library Manager — OOP 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50392"/>
            <a:ext cx="713232" cy="50292"/>
          </a:xfrm>
          <a:prstGeom prst="rect">
            <a:avLst/>
          </a:prstGeom>
          <a:solidFill>
            <a:srgbClr val="BF3741"/>
          </a:solidFill>
          <a:ln>
            <a:solidFill>
              <a:srgbClr val="BF3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987552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36E7D"/>
                </a:solidFill>
                <a:latin typeface="Aptos"/>
              </a:rPr>
              <a:t>Keeping each part of the application responsible for its own data and tasks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2423160" cy="1828800"/>
          </a:xfrm>
          <a:prstGeom prst="roundRect">
            <a:avLst/>
          </a:prstGeom>
          <a:solidFill>
            <a:srgbClr val="F4F7FB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508760"/>
            <a:ext cx="2423160" cy="347472"/>
          </a:xfrm>
          <a:prstGeom prst="rect">
            <a:avLst/>
          </a:prstGeom>
          <a:solidFill>
            <a:srgbClr val="255B97"/>
          </a:solidFill>
          <a:ln>
            <a:solidFill>
              <a:srgbClr val="255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572768"/>
            <a:ext cx="2148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Book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039112"/>
            <a:ext cx="21031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1E2834"/>
                </a:solidFill>
                <a:latin typeface="Aptos"/>
              </a:defRPr>
            </a:pPr>
            <a:r>
              <a:t>•  id</a:t>
            </a:r>
          </a:p>
          <a:p>
            <a:pPr>
              <a:spcAft>
                <a:spcPts val="800"/>
              </a:spcAft>
              <a:defRPr sz="1200">
                <a:solidFill>
                  <a:srgbClr val="1E2834"/>
                </a:solidFill>
                <a:latin typeface="Aptos"/>
              </a:defRPr>
            </a:pPr>
            <a:r>
              <a:t>•  title</a:t>
            </a:r>
          </a:p>
          <a:p>
            <a:pPr>
              <a:spcAft>
                <a:spcPts val="800"/>
              </a:spcAft>
              <a:defRPr sz="1200">
                <a:solidFill>
                  <a:srgbClr val="1E2834"/>
                </a:solidFill>
                <a:latin typeface="Aptos"/>
              </a:defRPr>
            </a:pPr>
            <a:r>
              <a:t>•  author</a:t>
            </a:r>
          </a:p>
          <a:p>
            <a:pPr>
              <a:spcAft>
                <a:spcPts val="800"/>
              </a:spcAft>
              <a:defRPr sz="1200">
                <a:solidFill>
                  <a:srgbClr val="1E2834"/>
                </a:solidFill>
                <a:latin typeface="Aptos"/>
              </a:defRPr>
            </a:pPr>
            <a:r>
              <a:t>•  available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0" y="1508760"/>
            <a:ext cx="2423160" cy="1828800"/>
          </a:xfrm>
          <a:prstGeom prst="roundRect">
            <a:avLst/>
          </a:prstGeom>
          <a:solidFill>
            <a:srgbClr val="F4F7FB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657600" y="1508760"/>
            <a:ext cx="2423160" cy="347472"/>
          </a:xfrm>
          <a:prstGeom prst="rect">
            <a:avLst/>
          </a:prstGeom>
          <a:solidFill>
            <a:srgbClr val="BF3741"/>
          </a:solidFill>
          <a:ln>
            <a:solidFill>
              <a:srgbClr val="BF3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794760" y="1572768"/>
            <a:ext cx="2148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Member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22191" y="2039112"/>
            <a:ext cx="21031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1E2834"/>
                </a:solidFill>
                <a:latin typeface="Aptos"/>
              </a:defRPr>
            </a:pPr>
            <a:r>
              <a:t>•  id</a:t>
            </a:r>
          </a:p>
          <a:p>
            <a:pPr>
              <a:spcAft>
                <a:spcPts val="800"/>
              </a:spcAft>
              <a:defRPr sz="1200">
                <a:solidFill>
                  <a:srgbClr val="1E2834"/>
                </a:solidFill>
                <a:latin typeface="Aptos"/>
              </a:defRPr>
            </a:pPr>
            <a:r>
              <a:t>•  name</a:t>
            </a:r>
          </a:p>
          <a:p>
            <a:pPr>
              <a:spcAft>
                <a:spcPts val="800"/>
              </a:spcAft>
              <a:defRPr sz="1200">
                <a:solidFill>
                  <a:srgbClr val="1E2834"/>
                </a:solidFill>
                <a:latin typeface="Aptos"/>
              </a:defRPr>
            </a:pPr>
            <a:r>
              <a:t>•  email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0" y="1508760"/>
            <a:ext cx="2423160" cy="1828800"/>
          </a:xfrm>
          <a:prstGeom prst="roundRect">
            <a:avLst/>
          </a:prstGeom>
          <a:solidFill>
            <a:srgbClr val="F4F7FB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583680" y="1508760"/>
            <a:ext cx="2423160" cy="347472"/>
          </a:xfrm>
          <a:prstGeom prst="rect">
            <a:avLst/>
          </a:prstGeom>
          <a:solidFill>
            <a:srgbClr val="377E5B"/>
          </a:solidFill>
          <a:ln>
            <a:solidFill>
              <a:srgbClr val="377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720840" y="1572768"/>
            <a:ext cx="2148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Loan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48272" y="2039112"/>
            <a:ext cx="21031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1E2834"/>
                </a:solidFill>
                <a:latin typeface="Aptos"/>
              </a:defRPr>
            </a:pPr>
            <a:r>
              <a:t>•  bookId</a:t>
            </a:r>
          </a:p>
          <a:p>
            <a:pPr>
              <a:spcAft>
                <a:spcPts val="800"/>
              </a:spcAft>
              <a:defRPr sz="1200">
                <a:solidFill>
                  <a:srgbClr val="1E2834"/>
                </a:solidFill>
                <a:latin typeface="Aptos"/>
              </a:defRPr>
            </a:pPr>
            <a:r>
              <a:t>•  memberId</a:t>
            </a:r>
          </a:p>
          <a:p>
            <a:pPr>
              <a:spcAft>
                <a:spcPts val="800"/>
              </a:spcAft>
              <a:defRPr sz="1200">
                <a:solidFill>
                  <a:srgbClr val="1E2834"/>
                </a:solidFill>
                <a:latin typeface="Aptos"/>
              </a:defRPr>
            </a:pPr>
            <a:r>
              <a:t>•  active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0" y="4069080"/>
            <a:ext cx="4892040" cy="1828800"/>
          </a:xfrm>
          <a:prstGeom prst="roundRect">
            <a:avLst/>
          </a:prstGeom>
          <a:solidFill>
            <a:srgbClr val="F4F7FB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657600" y="4069080"/>
            <a:ext cx="4892040" cy="347472"/>
          </a:xfrm>
          <a:prstGeom prst="rect">
            <a:avLst/>
          </a:prstGeom>
          <a:solidFill>
            <a:srgbClr val="C1953A"/>
          </a:solidFill>
          <a:ln>
            <a:solidFill>
              <a:srgbClr val="C195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794760" y="4133088"/>
            <a:ext cx="4617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Library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22191" y="4599432"/>
            <a:ext cx="45720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1E2834"/>
                </a:solidFill>
                <a:latin typeface="Aptos"/>
              </a:defRPr>
            </a:pPr>
            <a:r>
              <a:t>•  vector&lt;Book&gt;</a:t>
            </a:r>
          </a:p>
          <a:p>
            <a:pPr>
              <a:spcAft>
                <a:spcPts val="800"/>
              </a:spcAft>
              <a:defRPr sz="1200">
                <a:solidFill>
                  <a:srgbClr val="1E2834"/>
                </a:solidFill>
                <a:latin typeface="Aptos"/>
              </a:defRPr>
            </a:pPr>
            <a:r>
              <a:t>•  vector&lt;Member&gt;</a:t>
            </a:r>
          </a:p>
          <a:p>
            <a:pPr>
              <a:spcAft>
                <a:spcPts val="800"/>
              </a:spcAft>
              <a:defRPr sz="1200">
                <a:solidFill>
                  <a:srgbClr val="1E2834"/>
                </a:solidFill>
                <a:latin typeface="Aptos"/>
              </a:defRPr>
            </a:pPr>
            <a:r>
              <a:t>•  vector&lt;Loan&gt;</a:t>
            </a:r>
          </a:p>
          <a:p>
            <a:pPr>
              <a:spcAft>
                <a:spcPts val="800"/>
              </a:spcAft>
              <a:defRPr sz="1200">
                <a:solidFill>
                  <a:srgbClr val="1E2834"/>
                </a:solidFill>
                <a:latin typeface="Aptos"/>
              </a:defRPr>
            </a:pPr>
            <a:r>
              <a:t>•  issue / return / save / load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920240" y="3337560"/>
            <a:ext cx="2651760" cy="731520"/>
          </a:xfrm>
          <a:prstGeom prst="line">
            <a:avLst/>
          </a:prstGeom>
          <a:ln w="16510">
            <a:solidFill>
              <a:srgbClr val="636E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846320" y="3337560"/>
            <a:ext cx="640080" cy="731520"/>
          </a:xfrm>
          <a:prstGeom prst="line">
            <a:avLst/>
          </a:prstGeom>
          <a:ln w="16510">
            <a:solidFill>
              <a:srgbClr val="636E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6400800" y="3337560"/>
            <a:ext cx="1371600" cy="731520"/>
          </a:xfrm>
          <a:prstGeom prst="line">
            <a:avLst/>
          </a:prstGeom>
          <a:ln w="16510">
            <a:solidFill>
              <a:srgbClr val="636E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31520" y="598932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36E7D"/>
                </a:solidFill>
                <a:latin typeface="Aptos"/>
              </a:rPr>
              <a:t>This structure helped me keep the code easier to understand and maintain.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440" y="649224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36E7D"/>
                </a:solidFill>
                <a:latin typeface="Aptos"/>
              </a:rPr>
              <a:t>Amarnath Pandey</a:t>
            </a:r>
          </a:p>
        </p:txBody>
      </p:sp>
      <p:pic>
        <p:nvPicPr>
          <p:cNvPr id="28" name="Picture 27" descr="IILM University, Gurugram | Gurugram">
            <a:extLst>
              <a:ext uri="{FF2B5EF4-FFF2-40B4-BE49-F238E27FC236}">
                <a16:creationId xmlns:a16="http://schemas.microsoft.com/office/drawing/2014/main" id="{995EEDB7-35CC-A299-7E24-7F4E1FC05D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7856" y="5376672"/>
            <a:ext cx="1389888" cy="138988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47472"/>
            <a:ext cx="10881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E2834"/>
                </a:solidFill>
                <a:latin typeface="Aptos"/>
              </a:rPr>
              <a:t>Library Manager — Key Features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50392"/>
            <a:ext cx="713232" cy="50292"/>
          </a:xfrm>
          <a:prstGeom prst="rect">
            <a:avLst/>
          </a:prstGeom>
          <a:solidFill>
            <a:srgbClr val="BF3741"/>
          </a:solidFill>
          <a:ln>
            <a:solidFill>
              <a:srgbClr val="BF3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987552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36E7D"/>
                </a:solidFill>
                <a:latin typeface="Aptos"/>
              </a:rPr>
              <a:t>What a user can actually do in the program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3429000" cy="1828800"/>
          </a:xfrm>
          <a:prstGeom prst="roundRect">
            <a:avLst/>
          </a:prstGeom>
          <a:solidFill>
            <a:srgbClr val="F4F7FB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417320"/>
            <a:ext cx="64008" cy="1828800"/>
          </a:xfrm>
          <a:prstGeom prst="rect">
            <a:avLst/>
          </a:prstGeom>
          <a:solidFill>
            <a:srgbClr val="BF3741"/>
          </a:solidFill>
          <a:ln>
            <a:solidFill>
              <a:srgbClr val="BF3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3017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E2834"/>
                </a:solidFill>
                <a:latin typeface="Aptos"/>
              </a:rPr>
              <a:t>Manage Books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84248"/>
            <a:ext cx="301752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636E7D"/>
                </a:solidFill>
                <a:latin typeface="Aptos"/>
              </a:rPr>
              <a:t>Add books, view them and track availability.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417320"/>
            <a:ext cx="3429000" cy="1828800"/>
          </a:xfrm>
          <a:prstGeom prst="roundRect">
            <a:avLst/>
          </a:prstGeom>
          <a:solidFill>
            <a:srgbClr val="F4F7FB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89120" y="1417320"/>
            <a:ext cx="64008" cy="1828800"/>
          </a:xfrm>
          <a:prstGeom prst="rect">
            <a:avLst/>
          </a:prstGeom>
          <a:solidFill>
            <a:srgbClr val="255B97"/>
          </a:solidFill>
          <a:ln>
            <a:solidFill>
              <a:srgbClr val="255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17720" y="1600200"/>
            <a:ext cx="3017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E2834"/>
                </a:solidFill>
                <a:latin typeface="Aptos"/>
              </a:rPr>
              <a:t>Manage Members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1984248"/>
            <a:ext cx="301752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636E7D"/>
                </a:solidFill>
                <a:latin typeface="Aptos"/>
              </a:rPr>
              <a:t>Add members and keep their basic details.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417320"/>
            <a:ext cx="3429000" cy="1828800"/>
          </a:xfrm>
          <a:prstGeom prst="roundRect">
            <a:avLst/>
          </a:prstGeom>
          <a:solidFill>
            <a:srgbClr val="F4F7FB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92440" y="1417320"/>
            <a:ext cx="64008" cy="1828800"/>
          </a:xfrm>
          <a:prstGeom prst="rect">
            <a:avLst/>
          </a:prstGeom>
          <a:solidFill>
            <a:srgbClr val="377E5B"/>
          </a:solidFill>
          <a:ln>
            <a:solidFill>
              <a:srgbClr val="377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21040" y="1600200"/>
            <a:ext cx="3017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E2834"/>
                </a:solidFill>
                <a:latin typeface="Aptos"/>
              </a:rPr>
              <a:t>Search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1984248"/>
            <a:ext cx="301752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636E7D"/>
                </a:solidFill>
                <a:latin typeface="Aptos"/>
              </a:rPr>
              <a:t>Find a book without going through the whole list.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611880"/>
            <a:ext cx="3429000" cy="1828800"/>
          </a:xfrm>
          <a:prstGeom prst="roundRect">
            <a:avLst/>
          </a:prstGeom>
          <a:solidFill>
            <a:srgbClr val="F4F7FB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85800" y="3611880"/>
            <a:ext cx="64008" cy="1828800"/>
          </a:xfrm>
          <a:prstGeom prst="rect">
            <a:avLst/>
          </a:prstGeom>
          <a:solidFill>
            <a:srgbClr val="C1953A"/>
          </a:solidFill>
          <a:ln>
            <a:solidFill>
              <a:srgbClr val="C195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3794760"/>
            <a:ext cx="3017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E2834"/>
                </a:solidFill>
                <a:latin typeface="Aptos"/>
              </a:rPr>
              <a:t>Issue / Return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178808"/>
            <a:ext cx="301752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636E7D"/>
                </a:solidFill>
                <a:latin typeface="Aptos"/>
              </a:rPr>
              <a:t>Record which member has borrowed a book.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3611880"/>
            <a:ext cx="3429000" cy="1828800"/>
          </a:xfrm>
          <a:prstGeom prst="roundRect">
            <a:avLst/>
          </a:prstGeom>
          <a:solidFill>
            <a:srgbClr val="F4F7FB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389120" y="3611880"/>
            <a:ext cx="64008" cy="1828800"/>
          </a:xfrm>
          <a:prstGeom prst="rect">
            <a:avLst/>
          </a:prstGeom>
          <a:solidFill>
            <a:srgbClr val="BF3741"/>
          </a:solidFill>
          <a:ln>
            <a:solidFill>
              <a:srgbClr val="BF3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617720" y="3794760"/>
            <a:ext cx="3017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E2834"/>
                </a:solidFill>
                <a:latin typeface="Aptos"/>
              </a:rPr>
              <a:t>Persistence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17720" y="4178808"/>
            <a:ext cx="301752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636E7D"/>
                </a:solidFill>
                <a:latin typeface="Aptos"/>
              </a:rPr>
              <a:t>Keep data available after closing the program.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92440" y="3611880"/>
            <a:ext cx="3429000" cy="1828800"/>
          </a:xfrm>
          <a:prstGeom prst="roundRect">
            <a:avLst/>
          </a:prstGeom>
          <a:solidFill>
            <a:srgbClr val="F4F7FB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092440" y="3611880"/>
            <a:ext cx="64008" cy="1828800"/>
          </a:xfrm>
          <a:prstGeom prst="rect">
            <a:avLst/>
          </a:prstGeom>
          <a:solidFill>
            <a:srgbClr val="255B97"/>
          </a:solidFill>
          <a:ln>
            <a:solidFill>
              <a:srgbClr val="255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321040" y="3794760"/>
            <a:ext cx="3017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E2834"/>
                </a:solidFill>
                <a:latin typeface="Aptos"/>
              </a:rPr>
              <a:t>Menu Driven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4178808"/>
            <a:ext cx="301752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636E7D"/>
                </a:solidFill>
                <a:latin typeface="Aptos"/>
              </a:rPr>
              <a:t>A straightforward menu makes the program easy to use.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35440" y="649224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36E7D"/>
                </a:solidFill>
                <a:latin typeface="Aptos"/>
              </a:rPr>
              <a:t>Amarnath Pandey</a:t>
            </a:r>
          </a:p>
        </p:txBody>
      </p:sp>
      <p:pic>
        <p:nvPicPr>
          <p:cNvPr id="32" name="Picture 31" descr="IILM University, Gurugram | Gurugram">
            <a:extLst>
              <a:ext uri="{FF2B5EF4-FFF2-40B4-BE49-F238E27FC236}">
                <a16:creationId xmlns:a16="http://schemas.microsoft.com/office/drawing/2014/main" id="{BB4F3BB0-711F-C1B1-7796-CE661160F9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7856" y="5376672"/>
            <a:ext cx="1389888" cy="138988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47472"/>
            <a:ext cx="10881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E2834"/>
                </a:solidFill>
                <a:latin typeface="Aptos"/>
              </a:rPr>
              <a:t>Project 02 — Expense Tracker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50392"/>
            <a:ext cx="713232" cy="50292"/>
          </a:xfrm>
          <a:prstGeom prst="rect">
            <a:avLst/>
          </a:prstGeom>
          <a:solidFill>
            <a:srgbClr val="BF3741"/>
          </a:solidFill>
          <a:ln>
            <a:solidFill>
              <a:srgbClr val="BF3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987552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36E7D"/>
                </a:solidFill>
                <a:latin typeface="Aptos"/>
              </a:rPr>
              <a:t>A simple command-line project built around a real-life use case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298448"/>
            <a:ext cx="1234440" cy="384048"/>
          </a:xfrm>
          <a:prstGeom prst="roundRect">
            <a:avLst/>
          </a:prstGeom>
          <a:solidFill>
            <a:srgbClr val="255B97"/>
          </a:solidFill>
          <a:ln>
            <a:solidFill>
              <a:srgbClr val="255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1371600"/>
            <a:ext cx="1234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PROJECT 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828800"/>
            <a:ext cx="5486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E2834"/>
                </a:solidFill>
                <a:latin typeface="Aptos"/>
              </a:rPr>
              <a:t>The idea was simple: enter expenses, view them later, and quickly see category-wise and overall spending.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880360"/>
            <a:ext cx="5303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E2834"/>
                </a:solidFill>
                <a:latin typeface="Aptos"/>
              </a:defRPr>
            </a:pPr>
            <a:r>
              <a:t>•  Add expenses and view the entries</a:t>
            </a:r>
          </a:p>
          <a:p>
            <a:pPr>
              <a:spcAft>
                <a:spcPts val="800"/>
              </a:spcAft>
              <a:defRPr sz="1400">
                <a:solidFill>
                  <a:srgbClr val="1E2834"/>
                </a:solidFill>
                <a:latin typeface="Aptos"/>
              </a:defRPr>
            </a:pPr>
            <a:r>
              <a:t>•  See spending by category</a:t>
            </a:r>
          </a:p>
          <a:p>
            <a:pPr>
              <a:spcAft>
                <a:spcPts val="800"/>
              </a:spcAft>
              <a:defRPr sz="1400">
                <a:solidFill>
                  <a:srgbClr val="1E2834"/>
                </a:solidFill>
                <a:latin typeface="Aptos"/>
              </a:defRPr>
            </a:pPr>
            <a:r>
              <a:t>•  Calculate total spending</a:t>
            </a:r>
          </a:p>
          <a:p>
            <a:pPr>
              <a:spcAft>
                <a:spcPts val="800"/>
              </a:spcAft>
              <a:defRPr sz="1400">
                <a:solidFill>
                  <a:srgbClr val="1E2834"/>
                </a:solidFill>
                <a:latin typeface="Aptos"/>
              </a:defRPr>
            </a:pPr>
            <a:r>
              <a:t>•  Prevent invalid amounts and empty fields</a:t>
            </a:r>
          </a:p>
          <a:p>
            <a:pPr>
              <a:spcAft>
                <a:spcPts val="800"/>
              </a:spcAft>
              <a:defRPr sz="1400">
                <a:solidFill>
                  <a:srgbClr val="1E2834"/>
                </a:solidFill>
                <a:latin typeface="Aptos"/>
              </a:defRPr>
            </a:pPr>
            <a:r>
              <a:t>•  Handle wrong menu choices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46520" y="1417320"/>
            <a:ext cx="4983480" cy="4160520"/>
          </a:xfrm>
          <a:prstGeom prst="roundRect">
            <a:avLst/>
          </a:prstGeom>
          <a:solidFill>
            <a:srgbClr val="F7F9FC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766560" y="173736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36E7D"/>
                </a:solidFill>
                <a:latin typeface="Aptos"/>
              </a:rPr>
              <a:t>DATA 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2148840"/>
            <a:ext cx="411480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834"/>
                </a:solidFill>
                <a:latin typeface="Aptos"/>
              </a:rPr>
              <a:t>struct Expense {
    string description;
    string category;
    double amount;
};
vector&lt;Expense&gt; expenses;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66560" y="4709160"/>
            <a:ext cx="4160520" cy="530352"/>
          </a:xfrm>
          <a:prstGeom prst="roundRect">
            <a:avLst/>
          </a:prstGeom>
          <a:solidFill>
            <a:srgbClr val="F4F7FB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39712" y="4882896"/>
            <a:ext cx="40050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255B97"/>
                </a:solidFill>
                <a:latin typeface="Aptos"/>
              </a:rPr>
              <a:t>1 Add  •  2 List  •  3 Category Total  •  4 Overall Total  •  5 Exit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5440" y="649224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36E7D"/>
                </a:solidFill>
                <a:latin typeface="Aptos"/>
              </a:rPr>
              <a:t>Amarnath Pandey</a:t>
            </a:r>
          </a:p>
        </p:txBody>
      </p:sp>
      <p:pic>
        <p:nvPicPr>
          <p:cNvPr id="17" name="Picture 16" descr="IILM University, Gurugram | Gurugram">
            <a:extLst>
              <a:ext uri="{FF2B5EF4-FFF2-40B4-BE49-F238E27FC236}">
                <a16:creationId xmlns:a16="http://schemas.microsoft.com/office/drawing/2014/main" id="{17B1EDF3-CB8D-F13F-C00C-C3E6B15061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7856" y="5376672"/>
            <a:ext cx="1389888" cy="138988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47472"/>
            <a:ext cx="10881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E2834"/>
                </a:solidFill>
                <a:latin typeface="Aptos"/>
              </a:rPr>
              <a:t>Expense Tracker — Validation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50392"/>
            <a:ext cx="713232" cy="50292"/>
          </a:xfrm>
          <a:prstGeom prst="rect">
            <a:avLst/>
          </a:prstGeom>
          <a:solidFill>
            <a:srgbClr val="BF3741"/>
          </a:solidFill>
          <a:ln>
            <a:solidFill>
              <a:srgbClr val="BF3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987552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36E7D"/>
                </a:solidFill>
                <a:latin typeface="Aptos"/>
              </a:rPr>
              <a:t>Small checks that make the program more reliable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63040"/>
            <a:ext cx="3429000" cy="4160520"/>
          </a:xfrm>
          <a:prstGeom prst="roundRect">
            <a:avLst/>
          </a:prstGeom>
          <a:solidFill>
            <a:srgbClr val="F4F7FB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463040"/>
            <a:ext cx="64008" cy="4160520"/>
          </a:xfrm>
          <a:prstGeom prst="rect">
            <a:avLst/>
          </a:prstGeom>
          <a:solidFill>
            <a:srgbClr val="377E5B"/>
          </a:solidFill>
          <a:ln>
            <a:solidFill>
              <a:srgbClr val="377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3017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E2834"/>
                </a:solidFill>
                <a:latin typeface="Aptos"/>
              </a:rPr>
              <a:t>VALID 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29968"/>
            <a:ext cx="3017520" cy="3447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636E7D"/>
                </a:solidFill>
                <a:latin typeface="Aptos"/>
              </a:rPr>
              <a:t>When the input is correct, the expense is added to a vector for listing and total calculations.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463040"/>
            <a:ext cx="3429000" cy="4160520"/>
          </a:xfrm>
          <a:prstGeom prst="roundRect">
            <a:avLst/>
          </a:prstGeom>
          <a:solidFill>
            <a:srgbClr val="F4F7FB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89120" y="1463040"/>
            <a:ext cx="64008" cy="4160520"/>
          </a:xfrm>
          <a:prstGeom prst="rect">
            <a:avLst/>
          </a:prstGeom>
          <a:solidFill>
            <a:srgbClr val="BF3741"/>
          </a:solidFill>
          <a:ln>
            <a:solidFill>
              <a:srgbClr val="BF3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17720" y="1645920"/>
            <a:ext cx="3017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E2834"/>
                </a:solidFill>
                <a:latin typeface="Aptos"/>
              </a:rPr>
              <a:t>INVALID AMOUNT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029968"/>
            <a:ext cx="3017520" cy="3447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636E7D"/>
                </a:solidFill>
                <a:latin typeface="Aptos"/>
              </a:rPr>
              <a:t>If someone enters zero or a negative amount, the program asks for a valid value instead.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463040"/>
            <a:ext cx="3429000" cy="4160520"/>
          </a:xfrm>
          <a:prstGeom prst="roundRect">
            <a:avLst/>
          </a:prstGeom>
          <a:solidFill>
            <a:srgbClr val="F4F7FB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92440" y="1463040"/>
            <a:ext cx="64008" cy="4160520"/>
          </a:xfrm>
          <a:prstGeom prst="rect">
            <a:avLst/>
          </a:prstGeom>
          <a:solidFill>
            <a:srgbClr val="255B97"/>
          </a:solidFill>
          <a:ln>
            <a:solidFill>
              <a:srgbClr val="255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21040" y="1645920"/>
            <a:ext cx="3017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E2834"/>
                </a:solidFill>
                <a:latin typeface="Aptos"/>
              </a:rPr>
              <a:t>INVALID TEXT / MENU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029968"/>
            <a:ext cx="3017520" cy="3447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636E7D"/>
                </a:solidFill>
                <a:latin typeface="Aptos"/>
              </a:rPr>
              <a:t>The program checks for empty text and invalid menu choices instead of letting bad input cause problems.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0" y="649224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36E7D"/>
                </a:solidFill>
                <a:latin typeface="Aptos"/>
              </a:rPr>
              <a:t>Amarnath Pandey</a:t>
            </a:r>
          </a:p>
        </p:txBody>
      </p:sp>
      <p:pic>
        <p:nvPicPr>
          <p:cNvPr id="20" name="Picture 19" descr="IILM University, Gurugram | Gurugram">
            <a:extLst>
              <a:ext uri="{FF2B5EF4-FFF2-40B4-BE49-F238E27FC236}">
                <a16:creationId xmlns:a16="http://schemas.microsoft.com/office/drawing/2014/main" id="{635429E7-8FD2-63E1-480C-C323D6CE20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7856" y="5376672"/>
            <a:ext cx="1389888" cy="138988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47472"/>
            <a:ext cx="10881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E2834"/>
                </a:solidFill>
                <a:latin typeface="Aptos"/>
              </a:rPr>
              <a:t>How I Worked on the Projects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50392"/>
            <a:ext cx="713232" cy="50292"/>
          </a:xfrm>
          <a:prstGeom prst="rect">
            <a:avLst/>
          </a:prstGeom>
          <a:solidFill>
            <a:srgbClr val="BF3741"/>
          </a:solidFill>
          <a:ln>
            <a:solidFill>
              <a:srgbClr val="BF3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987552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36E7D"/>
                </a:solidFill>
                <a:latin typeface="Aptos"/>
              </a:rPr>
              <a:t>A simple process I followed from idea to finished program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566928" cy="384048"/>
          </a:xfrm>
          <a:prstGeom prst="roundRect">
            <a:avLst/>
          </a:prstGeom>
          <a:solidFill>
            <a:srgbClr val="BF3741"/>
          </a:solidFill>
          <a:ln>
            <a:solidFill>
              <a:srgbClr val="BF3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399032"/>
            <a:ext cx="5669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353312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E2834"/>
                </a:solidFill>
                <a:latin typeface="Aptos"/>
              </a:rPr>
              <a:t>Understand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63240" y="1344168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36E7D"/>
                </a:solidFill>
                <a:latin typeface="Aptos"/>
              </a:rPr>
              <a:t>First, I understood what the program needed to do.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286000"/>
            <a:ext cx="566928" cy="384048"/>
          </a:xfrm>
          <a:prstGeom prst="roundRect">
            <a:avLst/>
          </a:prstGeom>
          <a:solidFill>
            <a:srgbClr val="255B97"/>
          </a:solidFill>
          <a:ln>
            <a:solidFill>
              <a:srgbClr val="255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2359152"/>
            <a:ext cx="5669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2313432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E2834"/>
                </a:solidFill>
                <a:latin typeface="Aptos"/>
              </a:rPr>
              <a:t>Design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63240" y="2304288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36E7D"/>
                </a:solidFill>
                <a:latin typeface="Aptos"/>
              </a:rPr>
              <a:t>I planned the data and decided how classes and functions should fit together.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246120"/>
            <a:ext cx="566928" cy="384048"/>
          </a:xfrm>
          <a:prstGeom prst="roundRect">
            <a:avLst/>
          </a:prstGeom>
          <a:solidFill>
            <a:srgbClr val="BF3741"/>
          </a:solidFill>
          <a:ln>
            <a:solidFill>
              <a:srgbClr val="BF3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3319272"/>
            <a:ext cx="5669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3273551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E2834"/>
                </a:solidFill>
                <a:latin typeface="Aptos"/>
              </a:rPr>
              <a:t>Implement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63240" y="3264408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36E7D"/>
                </a:solidFill>
                <a:latin typeface="Aptos"/>
              </a:rPr>
              <a:t>I implemented the features one by one and connected them through a menu.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206240"/>
            <a:ext cx="566928" cy="384048"/>
          </a:xfrm>
          <a:prstGeom prst="roundRect">
            <a:avLst/>
          </a:prstGeom>
          <a:solidFill>
            <a:srgbClr val="255B97"/>
          </a:solidFill>
          <a:ln>
            <a:solidFill>
              <a:srgbClr val="255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1520" y="4279392"/>
            <a:ext cx="5669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4233672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E2834"/>
                </a:solidFill>
                <a:latin typeface="Aptos"/>
              </a:rPr>
              <a:t>Validate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63240" y="4224528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36E7D"/>
                </a:solidFill>
                <a:latin typeface="Aptos"/>
              </a:rPr>
              <a:t>I tested normal use and wrong inputs to find and fix problems.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166360"/>
            <a:ext cx="566928" cy="384048"/>
          </a:xfrm>
          <a:prstGeom prst="roundRect">
            <a:avLst/>
          </a:prstGeom>
          <a:solidFill>
            <a:srgbClr val="BF3741"/>
          </a:solidFill>
          <a:ln>
            <a:solidFill>
              <a:srgbClr val="BF3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1520" y="5239512"/>
            <a:ext cx="5669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00200" y="5193792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E2834"/>
                </a:solidFill>
                <a:latin typeface="Aptos"/>
              </a:rPr>
              <a:t>Document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63240" y="5184648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36E7D"/>
                </a:solidFill>
                <a:latin typeface="Aptos"/>
              </a:rPr>
              <a:t>I cleaned up the projects and uploaded them to GitHub.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440" y="649224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36E7D"/>
                </a:solidFill>
                <a:latin typeface="Aptos"/>
              </a:rPr>
              <a:t>Amarnath Pandey</a:t>
            </a:r>
          </a:p>
        </p:txBody>
      </p:sp>
      <p:pic>
        <p:nvPicPr>
          <p:cNvPr id="28" name="Picture 27" descr="IILM University, Gurugram | Gurugram">
            <a:extLst>
              <a:ext uri="{FF2B5EF4-FFF2-40B4-BE49-F238E27FC236}">
                <a16:creationId xmlns:a16="http://schemas.microsoft.com/office/drawing/2014/main" id="{7B7D595F-87C7-215B-ADDE-F53E909B71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7856" y="5376672"/>
            <a:ext cx="1389888" cy="138988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47472"/>
            <a:ext cx="10881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E2834"/>
                </a:solidFill>
                <a:latin typeface="Aptos"/>
              </a:rPr>
              <a:t>Skills I Developed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50392"/>
            <a:ext cx="713232" cy="50292"/>
          </a:xfrm>
          <a:prstGeom prst="rect">
            <a:avLst/>
          </a:prstGeom>
          <a:solidFill>
            <a:srgbClr val="BF3741"/>
          </a:solidFill>
          <a:ln>
            <a:solidFill>
              <a:srgbClr val="BF3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987552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36E7D"/>
                </a:solidFill>
                <a:latin typeface="Aptos"/>
              </a:rPr>
              <a:t>What changed for me after working on the projects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71600"/>
            <a:ext cx="5212080" cy="1188720"/>
          </a:xfrm>
          <a:prstGeom prst="roundRect">
            <a:avLst/>
          </a:prstGeom>
          <a:solidFill>
            <a:srgbClr val="F4F7FB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371600"/>
            <a:ext cx="64008" cy="1188720"/>
          </a:xfrm>
          <a:prstGeom prst="rect">
            <a:avLst/>
          </a:prstGeom>
          <a:solidFill>
            <a:srgbClr val="255B97"/>
          </a:solidFill>
          <a:ln>
            <a:solidFill>
              <a:srgbClr val="255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E2834"/>
                </a:solidFill>
                <a:latin typeface="Aptos"/>
              </a:rPr>
              <a:t>C++ Programming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38528"/>
            <a:ext cx="4800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636E7D"/>
                </a:solidFill>
                <a:latin typeface="Aptos"/>
              </a:rPr>
              <a:t>I became more comfortable writing complete C++ programs.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371600"/>
            <a:ext cx="5212080" cy="1188720"/>
          </a:xfrm>
          <a:prstGeom prst="roundRect">
            <a:avLst/>
          </a:prstGeom>
          <a:solidFill>
            <a:srgbClr val="F4F7FB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63640" y="1371600"/>
            <a:ext cx="64008" cy="1188720"/>
          </a:xfrm>
          <a:prstGeom prst="rect">
            <a:avLst/>
          </a:prstGeom>
          <a:solidFill>
            <a:srgbClr val="BF3741"/>
          </a:solidFill>
          <a:ln>
            <a:solidFill>
              <a:srgbClr val="BF3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92240" y="1554480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E2834"/>
                </a:solidFill>
                <a:latin typeface="Aptos"/>
              </a:rPr>
              <a:t>Object-Oriented Design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938528"/>
            <a:ext cx="4800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636E7D"/>
                </a:solidFill>
                <a:latin typeface="Aptos"/>
              </a:rPr>
              <a:t>I understood better how OOP can organize a real program.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880360"/>
            <a:ext cx="5212080" cy="1188720"/>
          </a:xfrm>
          <a:prstGeom prst="roundRect">
            <a:avLst/>
          </a:prstGeom>
          <a:solidFill>
            <a:srgbClr val="F4F7FB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85800" y="2880360"/>
            <a:ext cx="64008" cy="1188720"/>
          </a:xfrm>
          <a:prstGeom prst="rect">
            <a:avLst/>
          </a:prstGeom>
          <a:solidFill>
            <a:srgbClr val="377E5B"/>
          </a:solidFill>
          <a:ln>
            <a:solidFill>
              <a:srgbClr val="377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3063240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E2834"/>
                </a:solidFill>
                <a:latin typeface="Aptos"/>
              </a:rPr>
              <a:t>Problem Solving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447288"/>
            <a:ext cx="4800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636E7D"/>
                </a:solidFill>
                <a:latin typeface="Aptos"/>
              </a:rPr>
              <a:t>I learned to break a problem into smaller steps before coding.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2880360"/>
            <a:ext cx="5212080" cy="1188720"/>
          </a:xfrm>
          <a:prstGeom prst="roundRect">
            <a:avLst/>
          </a:prstGeom>
          <a:solidFill>
            <a:srgbClr val="F4F7FB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63640" y="2880360"/>
            <a:ext cx="64008" cy="1188720"/>
          </a:xfrm>
          <a:prstGeom prst="rect">
            <a:avLst/>
          </a:prstGeom>
          <a:solidFill>
            <a:srgbClr val="C1953A"/>
          </a:solidFill>
          <a:ln>
            <a:solidFill>
              <a:srgbClr val="C195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92240" y="3063240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E2834"/>
                </a:solidFill>
                <a:latin typeface="Aptos"/>
              </a:rPr>
              <a:t>Input Handling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447288"/>
            <a:ext cx="4800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636E7D"/>
                </a:solidFill>
                <a:latin typeface="Aptos"/>
              </a:rPr>
              <a:t>I started thinking about what can go wrong, not just ideal input.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389120"/>
            <a:ext cx="5212080" cy="1188720"/>
          </a:xfrm>
          <a:prstGeom prst="roundRect">
            <a:avLst/>
          </a:prstGeom>
          <a:solidFill>
            <a:srgbClr val="F4F7FB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85800" y="4389120"/>
            <a:ext cx="64008" cy="1188720"/>
          </a:xfrm>
          <a:prstGeom prst="rect">
            <a:avLst/>
          </a:prstGeom>
          <a:solidFill>
            <a:srgbClr val="255B97"/>
          </a:solidFill>
          <a:ln>
            <a:solidFill>
              <a:srgbClr val="255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4400" y="4572000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E2834"/>
                </a:solidFill>
                <a:latin typeface="Aptos"/>
              </a:rPr>
              <a:t>File Handling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956048"/>
            <a:ext cx="4800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636E7D"/>
                </a:solidFill>
                <a:latin typeface="Aptos"/>
              </a:rPr>
              <a:t>I learned how files can be used to keep application data.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4389120"/>
            <a:ext cx="5212080" cy="1188720"/>
          </a:xfrm>
          <a:prstGeom prst="roundRect">
            <a:avLst/>
          </a:prstGeom>
          <a:solidFill>
            <a:srgbClr val="F4F7FB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263640" y="4389120"/>
            <a:ext cx="64008" cy="1188720"/>
          </a:xfrm>
          <a:prstGeom prst="rect">
            <a:avLst/>
          </a:prstGeom>
          <a:solidFill>
            <a:srgbClr val="BF3741"/>
          </a:solidFill>
          <a:ln>
            <a:solidFill>
              <a:srgbClr val="BF3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92240" y="4572000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E2834"/>
                </a:solidFill>
                <a:latin typeface="Aptos"/>
              </a:rPr>
              <a:t>Version Control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4956048"/>
            <a:ext cx="4800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636E7D"/>
                </a:solidFill>
                <a:latin typeface="Aptos"/>
              </a:rPr>
              <a:t>I got practical experience presenting my work through GitHub.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35440" y="649224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36E7D"/>
                </a:solidFill>
                <a:latin typeface="Aptos"/>
              </a:rPr>
              <a:t>Amarnath Pandey</a:t>
            </a:r>
          </a:p>
        </p:txBody>
      </p:sp>
      <p:pic>
        <p:nvPicPr>
          <p:cNvPr id="32" name="Picture 31" descr="IILM University, Gurugram | Gurugram">
            <a:extLst>
              <a:ext uri="{FF2B5EF4-FFF2-40B4-BE49-F238E27FC236}">
                <a16:creationId xmlns:a16="http://schemas.microsoft.com/office/drawing/2014/main" id="{E7EDDCD2-A130-E06A-5C4E-EE56D63D69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7856" y="5376672"/>
            <a:ext cx="1389888" cy="138988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47472"/>
            <a:ext cx="10881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E2834"/>
                </a:solidFill>
                <a:latin typeface="Aptos"/>
              </a:rPr>
              <a:t>Challenges &amp; How I Solved Them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50392"/>
            <a:ext cx="713232" cy="50292"/>
          </a:xfrm>
          <a:prstGeom prst="rect">
            <a:avLst/>
          </a:prstGeom>
          <a:solidFill>
            <a:srgbClr val="BF3741"/>
          </a:solidFill>
          <a:ln>
            <a:solidFill>
              <a:srgbClr val="BF3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987552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36E7D"/>
                </a:solidFill>
                <a:latin typeface="Aptos"/>
              </a:rPr>
              <a:t>The parts that required the most thinking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53312"/>
            <a:ext cx="3337560" cy="804672"/>
          </a:xfrm>
          <a:prstGeom prst="roundRect">
            <a:avLst/>
          </a:prstGeom>
          <a:solidFill>
            <a:srgbClr val="F4F7FB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563624"/>
            <a:ext cx="2880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BF3741"/>
                </a:solidFill>
                <a:latin typeface="Aptos"/>
              </a:rPr>
              <a:t>Designing the data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24528" y="1517904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255B97"/>
                </a:solidFill>
                <a:latin typeface="Aptos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1353312"/>
            <a:ext cx="662940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0" y="1517904"/>
            <a:ext cx="6080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636E7D"/>
                </a:solidFill>
                <a:latin typeface="Aptos"/>
              </a:rPr>
              <a:t>I separated the data into different classes so the code was easier to understand and maintain.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523744"/>
            <a:ext cx="3337560" cy="804672"/>
          </a:xfrm>
          <a:prstGeom prst="roundRect">
            <a:avLst/>
          </a:prstGeom>
          <a:solidFill>
            <a:srgbClr val="F4F7FB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2734056"/>
            <a:ext cx="2880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BF3741"/>
                </a:solidFill>
                <a:latin typeface="Aptos"/>
              </a:rPr>
              <a:t>Keeping records consistent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24528" y="2688336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255B97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54880" y="2523744"/>
            <a:ext cx="662940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0" y="2688336"/>
            <a:ext cx="6080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636E7D"/>
                </a:solidFill>
                <a:latin typeface="Aptos"/>
              </a:rPr>
              <a:t>I made sure the book's availability and loan information changed together.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694176"/>
            <a:ext cx="3337560" cy="804672"/>
          </a:xfrm>
          <a:prstGeom prst="roundRect">
            <a:avLst/>
          </a:prstGeom>
          <a:solidFill>
            <a:srgbClr val="F4F7FB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0120" y="3904488"/>
            <a:ext cx="2880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BF3741"/>
                </a:solidFill>
                <a:latin typeface="Aptos"/>
              </a:rPr>
              <a:t>Bad user input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24528" y="385876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255B97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54880" y="3694176"/>
            <a:ext cx="662940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29200" y="3858768"/>
            <a:ext cx="6080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636E7D"/>
                </a:solidFill>
                <a:latin typeface="Aptos"/>
              </a:rPr>
              <a:t>I added checks for the common mistakes a user could make.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864608"/>
            <a:ext cx="3337560" cy="804672"/>
          </a:xfrm>
          <a:prstGeom prst="roundRect">
            <a:avLst/>
          </a:prstGeom>
          <a:solidFill>
            <a:srgbClr val="F4F7FB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60120" y="5074920"/>
            <a:ext cx="2880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BF3741"/>
                </a:solidFill>
                <a:latin typeface="Aptos"/>
              </a:rPr>
              <a:t>Persistence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24528" y="50292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255B97"/>
                </a:solidFill>
                <a:latin typeface="Aptos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0" y="4864608"/>
            <a:ext cx="662940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029200" y="5029200"/>
            <a:ext cx="6080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636E7D"/>
                </a:solidFill>
                <a:latin typeface="Aptos"/>
              </a:rPr>
              <a:t>I kept different records in files so the data could be loaded again later.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440" y="649224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36E7D"/>
                </a:solidFill>
                <a:latin typeface="Aptos"/>
              </a:rPr>
              <a:t>Amarnath Pandey</a:t>
            </a:r>
          </a:p>
        </p:txBody>
      </p:sp>
      <p:pic>
        <p:nvPicPr>
          <p:cNvPr id="28" name="Picture 27" descr="IILM University, Gurugram | Gurugram">
            <a:extLst>
              <a:ext uri="{FF2B5EF4-FFF2-40B4-BE49-F238E27FC236}">
                <a16:creationId xmlns:a16="http://schemas.microsoft.com/office/drawing/2014/main" id="{4B73E130-4D1C-ABE7-6152-25A8C462F3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7856" y="5376672"/>
            <a:ext cx="1389888" cy="138988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47472"/>
            <a:ext cx="10881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E2834"/>
                </a:solidFill>
                <a:latin typeface="Aptos"/>
              </a:rPr>
              <a:t>What I Learned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50392"/>
            <a:ext cx="713232" cy="50292"/>
          </a:xfrm>
          <a:prstGeom prst="rect">
            <a:avLst/>
          </a:prstGeom>
          <a:solidFill>
            <a:srgbClr val="BF3741"/>
          </a:solidFill>
          <a:ln>
            <a:solidFill>
              <a:srgbClr val="BF3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987552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36E7D"/>
                </a:solidFill>
                <a:latin typeface="Aptos"/>
              </a:rPr>
              <a:t>Turning concepts I learned into programs that actually work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5212080" cy="1097280"/>
          </a:xfrm>
          <a:prstGeom prst="roundRect">
            <a:avLst/>
          </a:prstGeom>
          <a:solidFill>
            <a:srgbClr val="F4F7FB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50392" y="1581912"/>
            <a:ext cx="530352" cy="384048"/>
          </a:xfrm>
          <a:prstGeom prst="roundRect">
            <a:avLst/>
          </a:prstGeom>
          <a:solidFill>
            <a:srgbClr val="BF3741"/>
          </a:solidFill>
          <a:ln>
            <a:solidFill>
              <a:srgbClr val="BF3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0392" y="1655064"/>
            <a:ext cx="5303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600200"/>
            <a:ext cx="4023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1E2834"/>
                </a:solidFill>
                <a:latin typeface="Aptos"/>
              </a:rPr>
              <a:t>I now have a better idea of how a complete C++ application is organized.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17320"/>
            <a:ext cx="5212080" cy="1097280"/>
          </a:xfrm>
          <a:prstGeom prst="roundRect">
            <a:avLst/>
          </a:prstGeom>
          <a:solidFill>
            <a:srgbClr val="F4F7FB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428231" y="1581912"/>
            <a:ext cx="530352" cy="384048"/>
          </a:xfrm>
          <a:prstGeom prst="roundRect">
            <a:avLst/>
          </a:prstGeom>
          <a:solidFill>
            <a:srgbClr val="255B97"/>
          </a:solidFill>
          <a:ln>
            <a:solidFill>
              <a:srgbClr val="255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28231" y="1655064"/>
            <a:ext cx="5303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1600200"/>
            <a:ext cx="4023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1E2834"/>
                </a:solidFill>
                <a:latin typeface="Aptos"/>
              </a:rPr>
              <a:t>I can connect OOP concepts with a real project instead of only knowing their definitions.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834640"/>
            <a:ext cx="5212080" cy="1097280"/>
          </a:xfrm>
          <a:prstGeom prst="roundRect">
            <a:avLst/>
          </a:prstGeom>
          <a:solidFill>
            <a:srgbClr val="F4F7FB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50392" y="2999232"/>
            <a:ext cx="530352" cy="384048"/>
          </a:xfrm>
          <a:prstGeom prst="roundRect">
            <a:avLst/>
          </a:prstGeom>
          <a:solidFill>
            <a:srgbClr val="BF3741"/>
          </a:solidFill>
          <a:ln>
            <a:solidFill>
              <a:srgbClr val="BF3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0392" y="3072384"/>
            <a:ext cx="5303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017520"/>
            <a:ext cx="4023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1E2834"/>
                </a:solidFill>
                <a:latin typeface="Aptos"/>
              </a:rPr>
              <a:t>I practiced storing collections of data and saving records to files.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2834640"/>
            <a:ext cx="5212080" cy="1097280"/>
          </a:xfrm>
          <a:prstGeom prst="roundRect">
            <a:avLst/>
          </a:prstGeom>
          <a:solidFill>
            <a:srgbClr val="F4F7FB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428231" y="2999232"/>
            <a:ext cx="530352" cy="384048"/>
          </a:xfrm>
          <a:prstGeom prst="roundRect">
            <a:avLst/>
          </a:prstGeom>
          <a:solidFill>
            <a:srgbClr val="255B97"/>
          </a:solidFill>
          <a:ln>
            <a:solidFill>
              <a:srgbClr val="255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28231" y="3072384"/>
            <a:ext cx="5303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3017520"/>
            <a:ext cx="4023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1E2834"/>
                </a:solidFill>
                <a:latin typeface="Aptos"/>
              </a:rPr>
              <a:t>I became more careful about testing and handling unexpected input.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251960"/>
            <a:ext cx="5212080" cy="1097280"/>
          </a:xfrm>
          <a:prstGeom prst="roundRect">
            <a:avLst/>
          </a:prstGeom>
          <a:solidFill>
            <a:srgbClr val="F4F7FB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50392" y="4416552"/>
            <a:ext cx="530352" cy="384048"/>
          </a:xfrm>
          <a:prstGeom prst="roundRect">
            <a:avLst/>
          </a:prstGeom>
          <a:solidFill>
            <a:srgbClr val="BF3741"/>
          </a:solidFill>
          <a:ln>
            <a:solidFill>
              <a:srgbClr val="BF3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50392" y="4489704"/>
            <a:ext cx="5303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4434840"/>
            <a:ext cx="4023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1E2834"/>
                </a:solidFill>
                <a:latin typeface="Aptos"/>
              </a:rPr>
              <a:t>I am more confident explaining what my code does and why I designed it that way.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4251960"/>
            <a:ext cx="5212080" cy="1097280"/>
          </a:xfrm>
          <a:prstGeom prst="roundRect">
            <a:avLst/>
          </a:prstGeom>
          <a:solidFill>
            <a:srgbClr val="F4F7FB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428231" y="4416552"/>
            <a:ext cx="530352" cy="384048"/>
          </a:xfrm>
          <a:prstGeom prst="roundRect">
            <a:avLst/>
          </a:prstGeom>
          <a:solidFill>
            <a:srgbClr val="255B97"/>
          </a:solidFill>
          <a:ln>
            <a:solidFill>
              <a:srgbClr val="255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28231" y="4489704"/>
            <a:ext cx="5303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0" y="4434840"/>
            <a:ext cx="4023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1E2834"/>
                </a:solidFill>
                <a:latin typeface="Aptos"/>
              </a:rPr>
              <a:t>I learned that documenting a project is almost as important as writing the code.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35440" y="649224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36E7D"/>
                </a:solidFill>
                <a:latin typeface="Aptos"/>
              </a:rPr>
              <a:t>Amarnath Pandey</a:t>
            </a:r>
          </a:p>
        </p:txBody>
      </p:sp>
      <p:pic>
        <p:nvPicPr>
          <p:cNvPr id="32" name="Picture 31" descr="IILM University, Gurugram | Gurugram">
            <a:extLst>
              <a:ext uri="{FF2B5EF4-FFF2-40B4-BE49-F238E27FC236}">
                <a16:creationId xmlns:a16="http://schemas.microsoft.com/office/drawing/2014/main" id="{6CFE3DA7-E31D-2D50-5B39-E0F1976092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7856" y="5376672"/>
            <a:ext cx="1389888" cy="138988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47472"/>
            <a:ext cx="10881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E2834"/>
                </a:solidFill>
                <a:latin typeface="Aptos"/>
              </a:rPr>
              <a:t>Project Repositories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50392"/>
            <a:ext cx="713232" cy="50292"/>
          </a:xfrm>
          <a:prstGeom prst="rect">
            <a:avLst/>
          </a:prstGeom>
          <a:solidFill>
            <a:srgbClr val="BF3741"/>
          </a:solidFill>
          <a:ln>
            <a:solidFill>
              <a:srgbClr val="BF3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987552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36E7D"/>
                </a:solidFill>
                <a:latin typeface="Aptos"/>
              </a:rPr>
              <a:t>My work is available on GitHub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5257800" cy="3611880"/>
          </a:xfrm>
          <a:prstGeom prst="roundRect">
            <a:avLst/>
          </a:prstGeom>
          <a:solidFill>
            <a:srgbClr val="F4F7FB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64008" cy="3611880"/>
          </a:xfrm>
          <a:prstGeom prst="rect">
            <a:avLst/>
          </a:prstGeom>
          <a:solidFill>
            <a:srgbClr val="BF3741"/>
          </a:solidFill>
          <a:ln>
            <a:solidFill>
              <a:srgbClr val="BF3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600200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E2834"/>
                </a:solidFill>
                <a:latin typeface="Aptos"/>
              </a:rPr>
              <a:t>Object-Oriented Library Manager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984248"/>
            <a:ext cx="4846320" cy="2898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636E7D"/>
                </a:solidFill>
                <a:latin typeface="Aptos"/>
              </a:rPr>
              <a:t>My C++ library project, where I practiced OOP, search, issue/return operations and file handling.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931920"/>
            <a:ext cx="4572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55B97"/>
                </a:solidFill>
                <a:latin typeface="Aptos"/>
              </a:rPr>
              <a:t>github.com/amarnath25scs1003004906/
Object-Oriented-Library-Manager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17320"/>
            <a:ext cx="5257800" cy="3611880"/>
          </a:xfrm>
          <a:prstGeom prst="roundRect">
            <a:avLst/>
          </a:prstGeom>
          <a:solidFill>
            <a:srgbClr val="F4F7FB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1417320"/>
            <a:ext cx="64008" cy="3611880"/>
          </a:xfrm>
          <a:prstGeom prst="rect">
            <a:avLst/>
          </a:prstGeom>
          <a:solidFill>
            <a:srgbClr val="255B97"/>
          </a:solidFill>
          <a:ln>
            <a:solidFill>
              <a:srgbClr val="255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46520" y="1600200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E2834"/>
                </a:solidFill>
                <a:latin typeface="Aptos"/>
              </a:rPr>
              <a:t>Expense Tracker — C++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984248"/>
            <a:ext cx="4846320" cy="2898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636E7D"/>
                </a:solidFill>
                <a:latin typeface="Aptos"/>
              </a:rPr>
              <a:t>My command-line expense tracker, where I practiced structures, vectors, functions, totals and input validation.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3931920"/>
            <a:ext cx="4572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55B97"/>
                </a:solidFill>
                <a:latin typeface="Aptos"/>
              </a:rPr>
              <a:t>github.com/amarnath25scs1003004906/
Expense-Tracker-CPP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4406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36E7D"/>
                </a:solidFill>
                <a:latin typeface="Aptos"/>
              </a:rPr>
              <a:t>These repositories contain the project code and show the work I completed during the internship.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649224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36E7D"/>
                </a:solidFill>
                <a:latin typeface="Aptos"/>
              </a:rPr>
              <a:t>Amarnath Pandey</a:t>
            </a:r>
          </a:p>
        </p:txBody>
      </p:sp>
      <p:pic>
        <p:nvPicPr>
          <p:cNvPr id="19" name="Picture 18" descr="IILM University, Gurugram | Gurugram">
            <a:extLst>
              <a:ext uri="{FF2B5EF4-FFF2-40B4-BE49-F238E27FC236}">
                <a16:creationId xmlns:a16="http://schemas.microsoft.com/office/drawing/2014/main" id="{B6D65DED-9EE8-0D39-3EF6-5188007F81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7856" y="5376672"/>
            <a:ext cx="1389888" cy="138988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09728"/>
            <a:ext cx="12191695" cy="54864"/>
          </a:xfrm>
          <a:prstGeom prst="rect">
            <a:avLst/>
          </a:prstGeom>
          <a:solidFill>
            <a:srgbClr val="BF3741"/>
          </a:solidFill>
          <a:ln>
            <a:solidFill>
              <a:srgbClr val="BF3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44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900" b="1">
                <a:solidFill>
                  <a:srgbClr val="1E2834"/>
                </a:solidFill>
                <a:latin typeface="Aptos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744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255B97"/>
                </a:solidFill>
                <a:latin typeface="Aptos"/>
              </a:rPr>
              <a:t>My Internship Journey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63240"/>
            <a:ext cx="10744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E2834"/>
                </a:solidFill>
                <a:latin typeface="Aptos"/>
              </a:rPr>
              <a:t>Amarnath Pandey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566160"/>
            <a:ext cx="10744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36E7D"/>
                </a:solidFill>
                <a:latin typeface="Aptos"/>
              </a:rPr>
              <a:t>B.Tech CSE • 3rd Semester • 25SCS1003004906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66360" y="4160520"/>
            <a:ext cx="1828800" cy="384048"/>
          </a:xfrm>
          <a:prstGeom prst="roundRect">
            <a:avLst/>
          </a:prstGeom>
          <a:solidFill>
            <a:srgbClr val="BF3741"/>
          </a:solidFill>
          <a:ln>
            <a:solidFill>
              <a:srgbClr val="BF3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166360" y="4233672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EDVYRO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892040"/>
            <a:ext cx="10744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36E7D"/>
                </a:solidFill>
                <a:latin typeface="Aptos"/>
              </a:rPr>
              <a:t>C++  •  OOP  •  STL  •  Validation  •  File Handling  •  GitHub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0" y="649224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36E7D"/>
                </a:solidFill>
                <a:latin typeface="Aptos"/>
              </a:rPr>
              <a:t>Amarnath Pandey</a:t>
            </a:r>
          </a:p>
        </p:txBody>
      </p:sp>
      <p:pic>
        <p:nvPicPr>
          <p:cNvPr id="13" name="Picture 12" descr="IILM University, Gurugram | Gurugram">
            <a:extLst>
              <a:ext uri="{FF2B5EF4-FFF2-40B4-BE49-F238E27FC236}">
                <a16:creationId xmlns:a16="http://schemas.microsoft.com/office/drawing/2014/main" id="{467F3AC3-F657-7663-8AED-0E57AF0503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7856" y="5376672"/>
            <a:ext cx="1389888" cy="1389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1266</Words>
  <Application>Microsoft Office PowerPoint</Application>
  <PresentationFormat>Widescreen</PresentationFormat>
  <Paragraphs>208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Amarnath Pandey - Edvyro Internship Presentation</dc:title>
  <dc:subject/>
  <dc:creator>Amarnath Pandey</dc:creator>
  <cp:keywords/>
  <dc:description>generated using python-pptx</dc:description>
  <cp:lastModifiedBy>Amarnath Pandey</cp:lastModifiedBy>
  <cp:revision>2</cp:revision>
  <dcterms:created xsi:type="dcterms:W3CDTF">2013-01-27T09:14:16Z</dcterms:created>
  <dcterms:modified xsi:type="dcterms:W3CDTF">2026-09-01T18:03:55Z</dcterms:modified>
  <cp:category/>
</cp:coreProperties>
</file>